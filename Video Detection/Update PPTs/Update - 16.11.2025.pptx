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6" r:id="rId6"/>
    <p:sldId id="261" r:id="rId7"/>
    <p:sldId id="267" r:id="rId8"/>
    <p:sldId id="262" r:id="rId9"/>
    <p:sldId id="268" r:id="rId10"/>
    <p:sldId id="259" r:id="rId11"/>
    <p:sldId id="263" r:id="rId12"/>
  </p:sldIdLst>
  <p:sldSz cx="18288000" cy="10287000"/>
  <p:notesSz cx="6858000" cy="9144000"/>
  <p:embeddedFontLst>
    <p:embeddedFont>
      <p:font typeface="Open Sans 2" panose="020B0604020202020204" charset="0"/>
      <p:regular r:id="rId13"/>
    </p:embeddedFont>
    <p:embeddedFont>
      <p:font typeface="Open Sans 1" panose="020B0604020202020204" charset="0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 2 Ultra-Bold" panose="020B0604020202020204" charset="0"/>
      <p:regular r:id="rId19"/>
    </p:embeddedFont>
    <p:embeddedFont>
      <p:font typeface="Open Sans 1 Bold" panose="020B0604020202020204" charset="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3" d="100"/>
          <a:sy n="43" d="100"/>
        </p:scale>
        <p:origin x="74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Relationship Id="rId9" Type="http://schemas.openxmlformats.org/officeDocument/2006/relationships/image" Target="../media/image8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hyperlink" Target="https://arxiv.org/abs/1703.07402" TargetMode="External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12" Type="http://schemas.openxmlformats.org/officeDocument/2006/relationships/hyperlink" Target="https://docs.ultralytics.com/" TargetMode="External"/><Relationship Id="rId2" Type="http://schemas.openxmlformats.org/officeDocument/2006/relationships/image" Target="../media/image1.png"/><Relationship Id="rId16" Type="http://schemas.openxmlformats.org/officeDocument/2006/relationships/hyperlink" Target="https://docs.scipy.org/doc/scipy/reference/signal.html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11" Type="http://schemas.openxmlformats.org/officeDocument/2006/relationships/hyperlink" Target="https://arxiv.org/abs/1506.02640" TargetMode="External"/><Relationship Id="rId5" Type="http://schemas.openxmlformats.org/officeDocument/2006/relationships/image" Target="../media/image4.svg"/><Relationship Id="rId15" Type="http://schemas.openxmlformats.org/officeDocument/2006/relationships/hyperlink" Target="https://doi.org/10.1021/ac60214a047" TargetMode="External"/><Relationship Id="rId10" Type="http://schemas.openxmlformats.org/officeDocument/2006/relationships/hyperlink" Target="https://doi.org/10.1016/j.autcon.2019.103045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8.svg"/><Relationship Id="rId14" Type="http://schemas.openxmlformats.org/officeDocument/2006/relationships/hyperlink" Target="https://arxiv.org/abs/1602.0076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748861" y="4114800"/>
            <a:ext cx="4539139" cy="6172200"/>
          </a:xfrm>
          <a:custGeom>
            <a:avLst/>
            <a:gdLst/>
            <a:ahLst/>
            <a:cxnLst/>
            <a:rect l="l" t="t" r="r" b="b"/>
            <a:pathLst>
              <a:path w="4539139" h="6172200">
                <a:moveTo>
                  <a:pt x="0" y="0"/>
                </a:moveTo>
                <a:lnTo>
                  <a:pt x="4539139" y="0"/>
                </a:lnTo>
                <a:lnTo>
                  <a:pt x="4539139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4976336" cy="5143500"/>
          </a:xfrm>
          <a:custGeom>
            <a:avLst/>
            <a:gdLst/>
            <a:ahLst/>
            <a:cxnLst/>
            <a:rect l="l" t="t" r="r" b="b"/>
            <a:pathLst>
              <a:path w="4976336" h="5143500">
                <a:moveTo>
                  <a:pt x="0" y="0"/>
                </a:moveTo>
                <a:lnTo>
                  <a:pt x="4976336" y="0"/>
                </a:lnTo>
                <a:lnTo>
                  <a:pt x="497633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118310" y="277687"/>
            <a:ext cx="3169690" cy="2294063"/>
          </a:xfrm>
          <a:custGeom>
            <a:avLst/>
            <a:gdLst/>
            <a:ahLst/>
            <a:cxnLst/>
            <a:rect l="l" t="t" r="r" b="b"/>
            <a:pathLst>
              <a:path w="3169690" h="2294063">
                <a:moveTo>
                  <a:pt x="0" y="0"/>
                </a:moveTo>
                <a:lnTo>
                  <a:pt x="3169690" y="0"/>
                </a:lnTo>
                <a:lnTo>
                  <a:pt x="3169690" y="2294063"/>
                </a:lnTo>
                <a:lnTo>
                  <a:pt x="0" y="229406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9021037"/>
            <a:ext cx="2988906" cy="726055"/>
          </a:xfrm>
          <a:custGeom>
            <a:avLst/>
            <a:gdLst/>
            <a:ahLst/>
            <a:cxnLst/>
            <a:rect l="l" t="t" r="r" b="b"/>
            <a:pathLst>
              <a:path w="2988906" h="726055">
                <a:moveTo>
                  <a:pt x="0" y="0"/>
                </a:moveTo>
                <a:lnTo>
                  <a:pt x="2988906" y="0"/>
                </a:lnTo>
                <a:lnTo>
                  <a:pt x="2988906" y="726055"/>
                </a:lnTo>
                <a:lnTo>
                  <a:pt x="0" y="72605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3764264" y="6157292"/>
            <a:ext cx="10759473" cy="8034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619"/>
              </a:lnSpc>
              <a:spcBef>
                <a:spcPct val="0"/>
              </a:spcBef>
            </a:pPr>
            <a:r>
              <a:rPr lang="en-US" sz="4412" b="1">
                <a:solidFill>
                  <a:srgbClr val="003049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Activity Recognition &amp; SOC Analysis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88168" y="2497839"/>
            <a:ext cx="13094405" cy="3126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160"/>
              </a:lnSpc>
            </a:pPr>
            <a:r>
              <a:rPr lang="en-US" sz="80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Optimizing On-Site EV Charging for Construction Equipment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430086" y="8050705"/>
            <a:ext cx="3427828" cy="147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Shubhan Mital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A69044961</a:t>
            </a:r>
          </a:p>
          <a:p>
            <a:pPr algn="ctr">
              <a:lnSpc>
                <a:spcPts val="3919"/>
              </a:lnSpc>
            </a:pPr>
            <a:r>
              <a:rPr lang="en-US" sz="2799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MS in ECE - MLDS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9" name="TextBox 9"/>
          <p:cNvSpPr txBox="1"/>
          <p:nvPr/>
        </p:nvSpPr>
        <p:spPr>
          <a:xfrm>
            <a:off x="2362200" y="1515893"/>
            <a:ext cx="8686801" cy="782265"/>
          </a:xfrm>
          <a:prstGeom prst="rect">
            <a:avLst/>
          </a:prstGeom>
        </p:spPr>
        <p:txBody>
          <a:bodyPr wrap="square" lIns="0" tIns="0" rIns="0" bIns="0" rtlCol="0" anchor="b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Research Objective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62200" y="2714929"/>
            <a:ext cx="13234730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499"/>
              </a:lnSpc>
            </a:pPr>
            <a:r>
              <a:rPr lang="en-US" sz="2499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Data Collection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"/>
              </a:rPr>
              <a:t>Videos of construction site activities with electric vehicles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"/>
              </a:rPr>
              <a:t>State of Charge (SOC) data for each vehicle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sym typeface="Open Sans 1"/>
              </a:rPr>
              <a:t>Tagging activities by minute for different vehicle types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2455384" y="5009142"/>
            <a:ext cx="11978749" cy="13465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Current Challenge</a:t>
            </a:r>
          </a:p>
          <a:p>
            <a:pPr algn="l">
              <a:lnSpc>
                <a:spcPts val="3499"/>
              </a:lnSpc>
            </a:pPr>
            <a:r>
              <a:rPr lang="en-US" sz="2400" u="sng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Problem: 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Charging EVs at a station and transporting to site is time-consuming</a:t>
            </a:r>
          </a:p>
          <a:p>
            <a:pPr algn="l">
              <a:lnSpc>
                <a:spcPts val="3499"/>
              </a:lnSpc>
            </a:pPr>
            <a:r>
              <a:rPr lang="en-US" sz="2400" u="sng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Solution: 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Bring portable charging stations to site (limited capacity)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2439145" y="6966060"/>
            <a:ext cx="11978749" cy="1795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Goal: Smart Charging Algorithm</a:t>
            </a:r>
          </a:p>
          <a:p>
            <a:pPr algn="l">
              <a:lnSpc>
                <a:spcPts val="3499"/>
              </a:lnSpc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Develop an algorithm that recommends optimal charging levels for each machine based on planned activities</a:t>
            </a:r>
          </a:p>
          <a:p>
            <a:pPr algn="l">
              <a:lnSpc>
                <a:spcPts val="3499"/>
              </a:lnSpc>
            </a:pP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Input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Work schedule → </a:t>
            </a:r>
            <a:r>
              <a:rPr lang="en-US" sz="2400" b="1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Output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: Charge machine A to X%, machine B to Y%,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230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2362200" y="1484611"/>
            <a:ext cx="7585718" cy="782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Current Progress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26635" y="2705100"/>
            <a:ext cx="13234730" cy="359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00" b="1" u="none" strike="noStrike" dirty="0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 Completed Work 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Video Processing: 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Successfully split videos into 1-minute frames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Timestamp Extraction: 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Captured </a:t>
            </a:r>
            <a:r>
              <a:rPr lang="en-US" sz="2400" u="none" strike="noStrike" dirty="0" err="1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overlayed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 timestamps from recordings</a:t>
            </a:r>
          </a:p>
          <a:p>
            <a:pPr marL="539749" lvl="1" indent="-269875" algn="l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Challenge Overcome: </a:t>
            </a:r>
            <a:r>
              <a:rPr lang="en-US" sz="2400" u="none" strike="noStrike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Handled multiple disjoint time segments from same day</a:t>
            </a:r>
            <a:endParaRPr lang="en-US" sz="2400" dirty="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YOLOv8-based excavator detection implemented </a:t>
            </a: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Deep SORT multi-object tracking integrated </a:t>
            </a: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Motion-based idling state identification deployed </a:t>
            </a:r>
          </a:p>
          <a:p>
            <a:pPr marL="539749" lvl="1" indent="-269875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00" u="sng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End-to-end pipeline operational: </a:t>
            </a:r>
            <a:r>
              <a:rPr lang="en-US" sz="2400" dirty="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Raw video → Detection → Tracking → Idle segments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230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TextBox 6"/>
          <p:cNvSpPr txBox="1"/>
          <p:nvPr/>
        </p:nvSpPr>
        <p:spPr>
          <a:xfrm>
            <a:off x="1413424" y="1521569"/>
            <a:ext cx="12725400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1: Object Detection Using (YOLOv8)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52693" y="3543300"/>
            <a:ext cx="12954000" cy="4693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Training (Model Development)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Manual image labeling → dataset creation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Train/</a:t>
            </a: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V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al/Test split defined in 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data.yaml</a:t>
            </a: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Base model: YOLOv8n (transfer learning)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Training </a:t>
            </a:r>
            <a:r>
              <a:rPr lang="en-US" altLang="en-US" sz="23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onfig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: 50 epochs, </a:t>
            </a:r>
            <a:r>
              <a:rPr lang="en-US" altLang="en-US" sz="23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mg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size=480, batch=16, </a:t>
            </a:r>
            <a:r>
              <a:rPr lang="en-US" altLang="en-US" sz="23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</a:t>
            </a:r>
            <a:r>
              <a:rPr kumimoji="0" lang="en-US" altLang="en-US" sz="23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retrained</a:t>
            </a: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weights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Output: best.pt (best-performing model saved automatically)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3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Inference (Video Processing)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Real-time detection at ~59 FPS, 480×480 input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YOLO NMS applied; highest-confidence excavator detection selected per frame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Confidence threshold used: &gt;0.5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3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Bounding boxes + confidence + class rendered on frames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3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9203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0" y="9323095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6" name="TextBox 6"/>
          <p:cNvSpPr txBox="1"/>
          <p:nvPr/>
        </p:nvSpPr>
        <p:spPr>
          <a:xfrm>
            <a:off x="1524000" y="1521569"/>
            <a:ext cx="12447984" cy="1564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1: Object Detection Using (YOLOv8)</a:t>
            </a:r>
          </a:p>
        </p:txBody>
      </p:sp>
      <p:sp>
        <p:nvSpPr>
          <p:cNvPr id="13" name="Rectangle 3"/>
          <p:cNvSpPr>
            <a:spLocks noChangeArrowheads="1"/>
          </p:cNvSpPr>
          <p:nvPr/>
        </p:nvSpPr>
        <p:spPr bwMode="auto">
          <a:xfrm>
            <a:off x="2408348" y="3504590"/>
            <a:ext cx="12954000" cy="3277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CSV Output Format [frame id, x1, y1, x2, y2, confidence, class id]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Pixel-level bounding boxes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Frame-indexed detections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Single-class excavator identification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sz="23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3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Trained model: best.pt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Detection log: detections.csv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3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Annotated video: Day-2 – </a:t>
            </a:r>
            <a:r>
              <a:rPr lang="en-US" altLang="en-US" sz="2300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YOLO.mp4</a:t>
            </a:r>
            <a:endParaRPr lang="en-US" altLang="en-US" sz="23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493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447800" y="1526044"/>
            <a:ext cx="14782800" cy="1594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2: Multi-Object Tracking using </a:t>
            </a:r>
            <a:r>
              <a:rPr lang="en-US" sz="6800" b="1" dirty="0" smtClean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Deep 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SORT </a:t>
            </a: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2438399" y="3155737"/>
            <a:ext cx="13792201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Algorithmic </a:t>
            </a:r>
            <a:r>
              <a:rPr kumimoji="0" lang="en-US" alt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Framework</a:t>
            </a: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Deep SORT: motion + appearance-based tracking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Combines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Kalman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Filter (motion prediction) + CNN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embeddings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(appearance)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Detection–track assignment using Hungarian algorithm and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IoU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threshold = 0.7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Motion Model (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Kalman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Filter)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State vector: [u, v, γ, h, u̇, v̇, γ̇, ḣ] (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bbox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center, aspect ratio, height + velocities)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Constant-velocity assumption for prediction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Predictive update: x̂ₖ = F xₖ₋₁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Appearance Model (Deep Association Metric)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10-layer CNN generates 128-D appearance embedding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Cosine similarity for matching detections to existing tracks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Maintains appearance history for last 100 frames per track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8828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447800" y="1526044"/>
            <a:ext cx="14782800" cy="15940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2: Multi-Object Tracking using </a:t>
            </a:r>
            <a:r>
              <a:rPr lang="en-US" sz="6800" b="1" dirty="0" smtClean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Deep </a:t>
            </a: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SORT </a:t>
            </a:r>
          </a:p>
        </p:txBody>
      </p:sp>
      <p:sp>
        <p:nvSpPr>
          <p:cNvPr id="26" name="Rectangle 18"/>
          <p:cNvSpPr>
            <a:spLocks noChangeArrowheads="1"/>
          </p:cNvSpPr>
          <p:nvPr/>
        </p:nvSpPr>
        <p:spPr bwMode="auto">
          <a:xfrm>
            <a:off x="2437150" y="3149828"/>
            <a:ext cx="13792201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Hyperparameters</a:t>
            </a:r>
            <a:endParaRPr lang="en-US" altLang="en-US" sz="2400" b="1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Max-age = 35: Max frames a track survives without detection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N-</a:t>
            </a:r>
            <a:r>
              <a:rPr lang="en-US" alt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init</a:t>
            </a: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= 4: Frames needed before track is confirmed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Max-</a:t>
            </a:r>
            <a:r>
              <a:rPr lang="en-US" alt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iou</a:t>
            </a: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-distance = 0.7: </a:t>
            </a:r>
            <a:r>
              <a:rPr lang="en-US" alt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IoU</a:t>
            </a: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threshold for spatial matching</a:t>
            </a:r>
          </a:p>
          <a:p>
            <a:pPr eaLnBrk="0" fontAlgn="base" hangingPunct="0"/>
            <a:endParaRPr lang="en-US" sz="2400" b="1" dirty="0" smtClean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r>
              <a:rPr lang="en-US" sz="2400" b="1" dirty="0" smtClean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CSV </a:t>
            </a:r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 Format [frame-id, track-id, x1, y1, x2, y2]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Persistent track-id across frames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Full temporal trajectory for each excavator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Handles occlusions up to max-age frames</a:t>
            </a:r>
          </a:p>
          <a:p>
            <a:pPr eaLnBrk="0" fontAlgn="base" hangingPunct="0"/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Tracked video: Test-DEEPSORT.mp4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Tracking CSV: Track-Output.csv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34879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66800" y="1518880"/>
            <a:ext cx="17602200" cy="80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3:  Idling State Identification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362200" y="2781300"/>
            <a:ext cx="1449675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Algorithmic Approach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Sliding window statistical feature extraction (Chen et al., 2020)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Analyze spatiotemporal invariance in bounding box properties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Feature 1: Centroid Displacement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Centroid,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Euclidean displacement over window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and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Standard deviation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Feature 2: Bounding Box Area Variance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Area,</a:t>
            </a:r>
            <a:r>
              <a:rPr kumimoji="0" lang="en-US" altLang="en-US" sz="2400" b="0" i="0" u="none" strike="noStrike" cap="none" normalizeH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Change of Area and Standard deviation threshold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Idling Decision Rule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Decide if process is idle or not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Signal Processing Pipeline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Smoothing: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Savitzky-Golay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filter (window=11, </a:t>
            </a: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polyorder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=2)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Denoising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: Rolling median (window=5)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Segmentation: Sliding window (W=40 frames ≈ 0.68 sec)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Post-processing: Merge gaps &lt;1 sec, discard &lt;3 sec</a:t>
            </a:r>
          </a:p>
        </p:txBody>
      </p:sp>
    </p:spTree>
    <p:extLst>
      <p:ext uri="{BB962C8B-B14F-4D97-AF65-F5344CB8AC3E}">
        <p14:creationId xmlns:p14="http://schemas.microsoft.com/office/powerpoint/2010/main" val="3987079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6" name="TextBox 6"/>
          <p:cNvSpPr txBox="1"/>
          <p:nvPr/>
        </p:nvSpPr>
        <p:spPr>
          <a:xfrm>
            <a:off x="1066800" y="1518880"/>
            <a:ext cx="17602200" cy="8052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800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Step 3:  Idling State Identification</a:t>
            </a: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362200" y="2706112"/>
            <a:ext cx="144967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/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Output Format (CSV) [track-id, start-frame, end-frame, duration-sec, start-time-sec, end-time-sec, start-HH:MM:SS, end-HH:MM:SS]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Provides per-track idling segments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Diagnostic visualizations: movement signal, area variance, binary idle timeline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endParaRPr lang="en-US" sz="2400" b="1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eaLnBrk="0" fontAlgn="base" hangingPunct="0"/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Final Artifacts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CSV: Idling-segments.csv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 eaLnBrk="0" fontAlgn="base" hangingPunct="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Plots per track: movement &amp; area with idle segments</a:t>
            </a:r>
            <a:endParaRPr lang="en-GB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179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2202954" y="1468637"/>
            <a:ext cx="15092620" cy="15938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lvl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Next Steps - Activity Recognition &amp; Productivity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2362200" y="3282923"/>
            <a:ext cx="1388209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Explore advanced activity recognition</a:t>
            </a:r>
            <a:endParaRPr lang="en-IN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Investigate 3D CNN frameworks (3D </a:t>
            </a:r>
            <a:r>
              <a:rPr lang="en-IN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ResNet</a:t>
            </a: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) for classifying excavator actions: Digging, Loading, Swinging, Idling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Research open-source implementations and pre-trained models for fine-tuning on construction datasets</a:t>
            </a:r>
          </a:p>
          <a:p>
            <a:endParaRPr lang="en-IN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Integrate with energy/SOC data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Link frame-by-frame activity labels with battery/SOC measurements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Build statistical profiles of energy consumption for each activity 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Identify activity-specific charge depletion rates</a:t>
            </a:r>
          </a:p>
          <a:p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r>
              <a:rPr lang="en-US" sz="24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Develop productivity &amp; charging optimization</a:t>
            </a:r>
            <a:endParaRPr lang="en-US" sz="24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Automatically compute cycle times and productivity metrics (LCY/</a:t>
            </a:r>
            <a:r>
              <a:rPr lang="en-US" sz="24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hr</a:t>
            </a: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Design charging recommendations based on planned activity schedule and station 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Optimize machine utilization while minimizing total charging time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505384" y="5143500"/>
            <a:ext cx="3782616" cy="5143500"/>
          </a:xfrm>
          <a:custGeom>
            <a:avLst/>
            <a:gdLst/>
            <a:ahLst/>
            <a:cxnLst/>
            <a:rect l="l" t="t" r="r" b="b"/>
            <a:pathLst>
              <a:path w="3782616" h="5143500">
                <a:moveTo>
                  <a:pt x="0" y="0"/>
                </a:moveTo>
                <a:lnTo>
                  <a:pt x="3782616" y="0"/>
                </a:lnTo>
                <a:lnTo>
                  <a:pt x="3782616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 rot="-10800000">
            <a:off x="0" y="0"/>
            <a:ext cx="3811202" cy="3939227"/>
          </a:xfrm>
          <a:custGeom>
            <a:avLst/>
            <a:gdLst/>
            <a:ahLst/>
            <a:cxnLst/>
            <a:rect l="l" t="t" r="r" b="b"/>
            <a:pathLst>
              <a:path w="3811202" h="3939227">
                <a:moveTo>
                  <a:pt x="0" y="0"/>
                </a:moveTo>
                <a:lnTo>
                  <a:pt x="3811202" y="0"/>
                </a:lnTo>
                <a:lnTo>
                  <a:pt x="3811202" y="3939227"/>
                </a:lnTo>
                <a:lnTo>
                  <a:pt x="0" y="393922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xmlns="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15761365" y="0"/>
            <a:ext cx="2526635" cy="1828652"/>
          </a:xfrm>
          <a:custGeom>
            <a:avLst/>
            <a:gdLst/>
            <a:ahLst/>
            <a:cxnLst/>
            <a:rect l="l" t="t" r="r" b="b"/>
            <a:pathLst>
              <a:path w="2526635" h="1828652">
                <a:moveTo>
                  <a:pt x="0" y="0"/>
                </a:moveTo>
                <a:lnTo>
                  <a:pt x="2526635" y="0"/>
                </a:lnTo>
                <a:lnTo>
                  <a:pt x="2526635" y="1828652"/>
                </a:lnTo>
                <a:lnTo>
                  <a:pt x="0" y="18286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xmlns="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5" name="Freeform 5"/>
          <p:cNvSpPr/>
          <p:nvPr/>
        </p:nvSpPr>
        <p:spPr>
          <a:xfrm>
            <a:off x="-1202" y="9334500"/>
            <a:ext cx="3811202" cy="925805"/>
          </a:xfrm>
          <a:custGeom>
            <a:avLst/>
            <a:gdLst/>
            <a:ahLst/>
            <a:cxnLst/>
            <a:rect l="l" t="t" r="r" b="b"/>
            <a:pathLst>
              <a:path w="3811202" h="925805">
                <a:moveTo>
                  <a:pt x="0" y="0"/>
                </a:moveTo>
                <a:lnTo>
                  <a:pt x="3811202" y="0"/>
                </a:lnTo>
                <a:lnTo>
                  <a:pt x="3811202" y="925805"/>
                </a:lnTo>
                <a:lnTo>
                  <a:pt x="0" y="9258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xmlns="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1304072" y="656534"/>
            <a:ext cx="15092620" cy="841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116"/>
              </a:lnSpc>
            </a:pPr>
            <a:r>
              <a:rPr lang="en-US" sz="6795" b="1" dirty="0">
                <a:solidFill>
                  <a:srgbClr val="343C51"/>
                </a:solidFill>
                <a:latin typeface="Open Sans 2 Ultra-Bold"/>
                <a:ea typeface="Open Sans 2 Ultra-Bold"/>
                <a:cs typeface="Open Sans 2 Ultra-Bold"/>
                <a:sym typeface="Open Sans 2 Ultra-Bold"/>
              </a:rPr>
              <a:t>References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79154" y="1828652"/>
            <a:ext cx="13729692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Chen, C., Zhu, Z.,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Hammad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 (2020).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Automated excavators activity recognition and productivity analysis from construction site surveillance videos.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Automation in Construction, 110, 103045.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0"/>
              </a:rPr>
              <a:t>https://doi.org/10.1016/j.autcon.2019.103045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Redmon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J.,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Divvala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S.,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Girshick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R.,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Farhadi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 (2016).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You Only Look Once: Unified, Real-Time Object Detection.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1"/>
              </a:rPr>
              <a:t>https://arxiv.org/abs/1506.02640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Jocher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G., et al. (2023).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Ultralytics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YOLOv8 Documentation.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Ultralytics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.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2"/>
              </a:rPr>
              <a:t>https://docs.ultralytics.com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Wojke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N.,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Bewley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A., &amp; Paulus, D. (2017).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Simple Online and </a:t>
            </a:r>
            <a:r>
              <a:rPr lang="en-IN" sz="2200" i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Realtime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Tracking with a Deep Association Metric.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3"/>
              </a:rPr>
              <a:t>https://arxiv.org/abs/1703.07402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Bewley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A., Ge, Z.,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Ott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L., Ramos, F.,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Upcroft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B. (2016).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Simple Online and </a:t>
            </a:r>
            <a:r>
              <a:rPr lang="en-IN" sz="2200" i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Realtime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Tracking.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4"/>
              </a:rPr>
              <a:t>https://arxiv.org/abs/1602.00763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Hara, K.,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Kataoka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H., &amp; Satoh, Y. (2018).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Can Spatiotemporal 3D CNNs Retrace the History of 2D CNNs and ImageNet?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/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https://arxiv.org/abs/1711.09577</a:t>
            </a: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Savitzky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A., &amp; </a:t>
            </a: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Golay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, M. J. E. (1964).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</a:t>
            </a:r>
            <a:r>
              <a:rPr lang="en-IN" sz="2200" i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Smoothing and Differentiation of Data by Simplified Least Squares Procedures.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Analytical Chemistry, 36(8), 1627–1639.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5"/>
              </a:rPr>
              <a:t>https://doi.org/10.1021/ac60214a047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  <a:p>
            <a:pPr>
              <a:buFont typeface="+mj-lt"/>
              <a:buAutoNum type="arabicPeriod"/>
            </a:pPr>
            <a:r>
              <a:rPr lang="en-IN" sz="2200" b="1" dirty="0" err="1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SciPy</a:t>
            </a:r>
            <a:r>
              <a:rPr lang="en-IN" sz="2200" b="1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Signal Processing Documentation.</a:t>
            </a: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  <a:t> SciPy.org</a:t>
            </a:r>
            <a:b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</a:rPr>
            </a:br>
            <a:r>
              <a:rPr lang="en-IN" sz="2200" dirty="0">
                <a:latin typeface="Open Sans 1" panose="020B0604020202020204" charset="0"/>
                <a:ea typeface="Open Sans 1" panose="020B0604020202020204" charset="0"/>
                <a:cs typeface="Open Sans 1" panose="020B0604020202020204" charset="0"/>
                <a:hlinkClick r:id="rId16"/>
              </a:rPr>
              <a:t>https://docs.scipy.org/doc/scipy/reference/signal.html</a:t>
            </a:r>
            <a:endParaRPr lang="en-IN" sz="2200" dirty="0">
              <a:latin typeface="Open Sans 1" panose="020B0604020202020204" charset="0"/>
              <a:ea typeface="Open Sans 1" panose="020B0604020202020204" charset="0"/>
              <a:cs typeface="Open Sans 1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715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</TotalTime>
  <Words>837</Words>
  <Application>Microsoft Office PowerPoint</Application>
  <PresentationFormat>Custom</PresentationFormat>
  <Paragraphs>126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Open Sans 2</vt:lpstr>
      <vt:lpstr>Arial</vt:lpstr>
      <vt:lpstr>Open Sans 1</vt:lpstr>
      <vt:lpstr>Calibri</vt:lpstr>
      <vt:lpstr>Open Sans 2 Ultra-Bold</vt:lpstr>
      <vt:lpstr>Open Sans 1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Optimizing On-Site EV Charging for Construction Equipment</dc:title>
  <dc:creator>Rishita Agarwal</dc:creator>
  <cp:lastModifiedBy>Microsoft account</cp:lastModifiedBy>
  <cp:revision>12</cp:revision>
  <dcterms:created xsi:type="dcterms:W3CDTF">2006-08-16T00:00:00Z</dcterms:created>
  <dcterms:modified xsi:type="dcterms:W3CDTF">2025-11-17T19:24:34Z</dcterms:modified>
  <dc:identifier>DAG4Xovw6d8</dc:identifier>
</cp:coreProperties>
</file>