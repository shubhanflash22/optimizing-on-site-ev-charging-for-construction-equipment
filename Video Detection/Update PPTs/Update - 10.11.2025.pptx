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Open Sans 1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Open Sans 2 Bold" panose="020B0604020202020204" charset="0"/>
      <p:regular r:id="rId11"/>
    </p:embeddedFont>
    <p:embeddedFont>
      <p:font typeface="Open Sans 2 Ultra-Bold" panose="020B0604020202020204" charset="0"/>
      <p:regular r:id="rId12"/>
    </p:embeddedFont>
    <p:embeddedFont>
      <p:font typeface="Open Sans 2" panose="020B0604020202020204" charset="0"/>
      <p:regular r:id="rId13"/>
    </p:embeddedFont>
    <p:embeddedFont>
      <p:font typeface="Open Sans 1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8861" y="4114800"/>
            <a:ext cx="4539139" cy="6172200"/>
          </a:xfrm>
          <a:custGeom>
            <a:avLst/>
            <a:gdLst/>
            <a:ahLst/>
            <a:cxnLst/>
            <a:rect l="l" t="t" r="r" b="b"/>
            <a:pathLst>
              <a:path w="4539139" h="6172200">
                <a:moveTo>
                  <a:pt x="0" y="0"/>
                </a:moveTo>
                <a:lnTo>
                  <a:pt x="4539139" y="0"/>
                </a:lnTo>
                <a:lnTo>
                  <a:pt x="453913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0" y="0"/>
            <a:ext cx="4976336" cy="5143500"/>
          </a:xfrm>
          <a:custGeom>
            <a:avLst/>
            <a:gdLst/>
            <a:ahLst/>
            <a:cxnLst/>
            <a:rect l="l" t="t" r="r" b="b"/>
            <a:pathLst>
              <a:path w="4976336" h="5143500">
                <a:moveTo>
                  <a:pt x="0" y="0"/>
                </a:moveTo>
                <a:lnTo>
                  <a:pt x="4976336" y="0"/>
                </a:lnTo>
                <a:lnTo>
                  <a:pt x="497633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118310" y="277687"/>
            <a:ext cx="3169690" cy="2294063"/>
          </a:xfrm>
          <a:custGeom>
            <a:avLst/>
            <a:gdLst/>
            <a:ahLst/>
            <a:cxnLst/>
            <a:rect l="l" t="t" r="r" b="b"/>
            <a:pathLst>
              <a:path w="3169690" h="2294063">
                <a:moveTo>
                  <a:pt x="0" y="0"/>
                </a:moveTo>
                <a:lnTo>
                  <a:pt x="3169690" y="0"/>
                </a:lnTo>
                <a:lnTo>
                  <a:pt x="3169690" y="2294063"/>
                </a:lnTo>
                <a:lnTo>
                  <a:pt x="0" y="2294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9021037"/>
            <a:ext cx="2988906" cy="726055"/>
          </a:xfrm>
          <a:custGeom>
            <a:avLst/>
            <a:gdLst/>
            <a:ahLst/>
            <a:cxnLst/>
            <a:rect l="l" t="t" r="r" b="b"/>
            <a:pathLst>
              <a:path w="2988906" h="726055">
                <a:moveTo>
                  <a:pt x="0" y="0"/>
                </a:moveTo>
                <a:lnTo>
                  <a:pt x="2988906" y="0"/>
                </a:lnTo>
                <a:lnTo>
                  <a:pt x="2988906" y="726055"/>
                </a:lnTo>
                <a:lnTo>
                  <a:pt x="0" y="7260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64264" y="6157292"/>
            <a:ext cx="10759473" cy="80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9"/>
              </a:lnSpc>
              <a:spcBef>
                <a:spcPct val="0"/>
              </a:spcBef>
            </a:pPr>
            <a:r>
              <a:rPr lang="en-US" sz="4412" b="1">
                <a:solidFill>
                  <a:srgbClr val="0030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Activity Recognition &amp; SOC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8168" y="2497839"/>
            <a:ext cx="13094405" cy="3126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</a:pPr>
            <a:r>
              <a:rPr lang="en-US" sz="8000" b="1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Optimizing On-Site EV Charging for Construction Equipment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30086" y="8050705"/>
            <a:ext cx="3427828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Shubhan Mital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A69044961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MS in ECE - MLDS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9361195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268152" y="4894954"/>
            <a:ext cx="12486762" cy="1931633"/>
            <a:chOff x="0" y="0"/>
            <a:chExt cx="3288695" cy="508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88695" cy="508743"/>
            </a:xfrm>
            <a:custGeom>
              <a:avLst/>
              <a:gdLst/>
              <a:ahLst/>
              <a:cxnLst/>
              <a:rect l="l" t="t" r="r" b="b"/>
              <a:pathLst>
                <a:path w="3288695" h="508743">
                  <a:moveTo>
                    <a:pt x="36581" y="0"/>
                  </a:moveTo>
                  <a:lnTo>
                    <a:pt x="3252114" y="0"/>
                  </a:lnTo>
                  <a:cubicBezTo>
                    <a:pt x="3272317" y="0"/>
                    <a:pt x="3288695" y="16378"/>
                    <a:pt x="3288695" y="36581"/>
                  </a:cubicBezTo>
                  <a:lnTo>
                    <a:pt x="3288695" y="472162"/>
                  </a:lnTo>
                  <a:cubicBezTo>
                    <a:pt x="3288695" y="492365"/>
                    <a:pt x="3272317" y="508743"/>
                    <a:pt x="3252114" y="508743"/>
                  </a:cubicBezTo>
                  <a:lnTo>
                    <a:pt x="36581" y="508743"/>
                  </a:lnTo>
                  <a:cubicBezTo>
                    <a:pt x="16378" y="508743"/>
                    <a:pt x="0" y="492365"/>
                    <a:pt x="0" y="472162"/>
                  </a:cubicBezTo>
                  <a:lnTo>
                    <a:pt x="0" y="36581"/>
                  </a:lnTo>
                  <a:cubicBezTo>
                    <a:pt x="0" y="16378"/>
                    <a:pt x="16378" y="0"/>
                    <a:pt x="36581" y="0"/>
                  </a:cubicBezTo>
                  <a:close/>
                </a:path>
              </a:pathLst>
            </a:custGeom>
            <a:solidFill>
              <a:srgbClr val="FF1D1D">
                <a:alpha val="3098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3288695" cy="584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423470" y="737997"/>
            <a:ext cx="7441060" cy="1614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Research Objective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6635" y="2690496"/>
            <a:ext cx="13234730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📊 </a:t>
            </a: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 Collection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Videos of construction site activities with electric vehicles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State of Charge (SOC) data for each vehicle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Tagging activities by minute for different vehicle types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26635" y="5009142"/>
            <a:ext cx="1197874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⚡ Current Challenge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Problem: Charging EVs at a station and transporting to site is time-consuming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Solution: Bring portable charging stations to site (limited capacity)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268152" y="7294320"/>
            <a:ext cx="12486762" cy="2066875"/>
            <a:chOff x="0" y="0"/>
            <a:chExt cx="3288695" cy="5443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88695" cy="544362"/>
            </a:xfrm>
            <a:custGeom>
              <a:avLst/>
              <a:gdLst/>
              <a:ahLst/>
              <a:cxnLst/>
              <a:rect l="l" t="t" r="r" b="b"/>
              <a:pathLst>
                <a:path w="3288695" h="544362">
                  <a:moveTo>
                    <a:pt x="36581" y="0"/>
                  </a:moveTo>
                  <a:lnTo>
                    <a:pt x="3252114" y="0"/>
                  </a:lnTo>
                  <a:cubicBezTo>
                    <a:pt x="3272317" y="0"/>
                    <a:pt x="3288695" y="16378"/>
                    <a:pt x="3288695" y="36581"/>
                  </a:cubicBezTo>
                  <a:lnTo>
                    <a:pt x="3288695" y="507782"/>
                  </a:lnTo>
                  <a:cubicBezTo>
                    <a:pt x="3288695" y="527984"/>
                    <a:pt x="3272317" y="544362"/>
                    <a:pt x="3252114" y="544362"/>
                  </a:cubicBezTo>
                  <a:lnTo>
                    <a:pt x="36581" y="544362"/>
                  </a:lnTo>
                  <a:cubicBezTo>
                    <a:pt x="16378" y="544362"/>
                    <a:pt x="0" y="527984"/>
                    <a:pt x="0" y="507782"/>
                  </a:cubicBezTo>
                  <a:lnTo>
                    <a:pt x="0" y="36581"/>
                  </a:lnTo>
                  <a:cubicBezTo>
                    <a:pt x="0" y="16378"/>
                    <a:pt x="16378" y="0"/>
                    <a:pt x="36581" y="0"/>
                  </a:cubicBezTo>
                  <a:close/>
                </a:path>
              </a:pathLst>
            </a:custGeom>
            <a:solidFill>
              <a:srgbClr val="7ED957">
                <a:alpha val="3098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3288695" cy="620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522159" y="7341945"/>
            <a:ext cx="11978749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🎯 Goal: Smart Charging Algorithm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Develop an algorithm that recommends optimal charging levels for each machine based on planned activities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Input</a:t>
            </a: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Work schedule → </a:t>
            </a: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Output</a:t>
            </a: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Charge machine A to X%, machine B to Y%,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14300" y="9520006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04072" y="1257522"/>
            <a:ext cx="15092620" cy="841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Current Progress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26635" y="2395305"/>
            <a:ext cx="13234730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✅ Completed Work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Video Processing: Successfully split videos into 1-minute frames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Timestamp Extraction: Captured overlayed timestamps from recordings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Challenge Overcome: Handled multiple disjoint time segments from same day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26635" y="4646380"/>
            <a:ext cx="13234730" cy="129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🔄 </a:t>
            </a:r>
            <a:r>
              <a:rPr lang="en-US" sz="24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Pivot in Approach (After Discussion with Avik)</a:t>
            </a:r>
          </a:p>
          <a:p>
            <a:pPr marL="539741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Issue: Manual tagging approach is too time-consuming</a:t>
            </a:r>
          </a:p>
          <a:p>
            <a:pPr marL="539741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New Direction: Automated activity recognition using deep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26635" y="6459306"/>
            <a:ext cx="12566185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📚 </a:t>
            </a:r>
            <a:r>
              <a:rPr lang="en-US" sz="2499" b="1" u="none" strike="noStrik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Key Reference Paper: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C. Chen, Z. Zhu, and A. Hammad, “Automated excavators activity recognition and productivity analysis from construction site surveillance videos,” Automation in Construction, vol. 110, p. 103045, Feb. 2020, doi: https://doi.org/10.1016/j.autcon.2019.103045.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u="none" strike="noStrike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Framework using 3 CNNs for detection, tracking, and activity recognition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267325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76901" y="9361195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61014" y="1516901"/>
            <a:ext cx="14365971" cy="820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3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🔍Research open-source implementations of similar CNN frameworks</a:t>
            </a:r>
          </a:p>
          <a:p>
            <a:pPr marL="496571" lvl="1" indent="-248285" algn="l">
              <a:lnSpc>
                <a:spcPts val="361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Explore three-stage CNN architecture: Faster R-CNN for detection, Deep SORT for tracking, and 3D ResNet for activity recognition</a:t>
            </a:r>
          </a:p>
          <a:p>
            <a:pPr marL="496571" lvl="1" indent="-248285" algn="l">
              <a:lnSpc>
                <a:spcPts val="361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Investigate PyTorch/TensorFlow implementations and pre-trained models that can be fine-tuned for construction equipment</a:t>
            </a:r>
          </a:p>
          <a:p>
            <a:pPr algn="l">
              <a:lnSpc>
                <a:spcPts val="3611"/>
              </a:lnSpc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🛠️</a:t>
            </a:r>
            <a:r>
              <a:rPr lang="en-US" sz="23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Build/adapt video skeletonizer and activity classifier</a:t>
            </a:r>
          </a:p>
          <a:p>
            <a:pPr marL="496571" lvl="1" indent="-248285" algn="l">
              <a:lnSpc>
                <a:spcPts val="361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Adapt detection-tracking pipeline to identify and track multiple electric vehicles across video frames</a:t>
            </a:r>
          </a:p>
          <a:p>
            <a:pPr marL="496571" lvl="1" indent="-248285" algn="l">
              <a:lnSpc>
                <a:spcPts val="3611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Fine-tune 3D ResNet model to classify equipment activities (digging, loading, idling, traveling) using spatiotemporal features</a:t>
            </a:r>
          </a:p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🔗</a:t>
            </a:r>
            <a:r>
              <a:rPr lang="en-US" sz="23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Link automated activity recognition with SOC data</a:t>
            </a:r>
          </a:p>
          <a:p>
            <a:pPr marL="496571" lvl="1" indent="-248285" algn="l">
              <a:lnSpc>
                <a:spcPts val="3611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Synchronize frame-by-frame activity labels with timestamped SOC measurements to map energy consumption patterns</a:t>
            </a:r>
          </a:p>
          <a:p>
            <a:pPr marL="496571" lvl="1" indent="-248285" algn="l">
              <a:lnSpc>
                <a:spcPts val="3611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Build statistical profiles showing charge depletion rates for each activity type and equipment class</a:t>
            </a:r>
          </a:p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🚀</a:t>
            </a:r>
            <a:r>
              <a:rPr lang="en-US" sz="23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Develop charging optimization algorithm</a:t>
            </a:r>
          </a:p>
          <a:p>
            <a:pPr marL="496571" lvl="1" indent="-248285" algn="l">
              <a:lnSpc>
                <a:spcPts val="3611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Design algorithm that takes planned work schedule as input and recommends optimal pre-charge levels (charge machine A to X%, B to Y%)</a:t>
            </a:r>
          </a:p>
          <a:p>
            <a:pPr marL="496571" lvl="1" indent="-248285" algn="l">
              <a:lnSpc>
                <a:spcPts val="3611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Incorporate portable charging station capacity constraints to maximize equipment utilization while meeting task requirements.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4072" y="588802"/>
            <a:ext cx="15092620" cy="841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Next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Custom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Open Sans 1 Bold</vt:lpstr>
      <vt:lpstr>Calibri</vt:lpstr>
      <vt:lpstr>Open Sans 2 Bold</vt:lpstr>
      <vt:lpstr>Open Sans 2 Ultra-Bold</vt:lpstr>
      <vt:lpstr>Arial</vt:lpstr>
      <vt:lpstr>Open Sans 2</vt:lpstr>
      <vt:lpstr>Open Sans 1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On-Site EV Charging for Construction Equipment</dc:title>
  <cp:lastModifiedBy>Microsoft account</cp:lastModifiedBy>
  <cp:revision>1</cp:revision>
  <dcterms:created xsi:type="dcterms:W3CDTF">2006-08-16T00:00:00Z</dcterms:created>
  <dcterms:modified xsi:type="dcterms:W3CDTF">2025-11-11T07:55:20Z</dcterms:modified>
  <dc:identifier>DAG4Xovw6d8</dc:identifier>
</cp:coreProperties>
</file>