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52"/>
  </p:notes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0A04F6C-3C15-4A04-A14E-88EC01F97B91}">
  <a:tblStyle styleId="{E0A04F6C-3C15-4A04-A14E-88EC01F97B9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D1662DD-2B37-4CAD-9B8C-D0DF74527A4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489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9fb055f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9fb055f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Logo sunbelt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bb5126cc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bb5126cc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3e9fb055fb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3e9fb055fb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e9fb055fb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3e9fb055fb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e9fb055fb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e9fb055fb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However, the shift to construction electric vehicles (CEVs) demands significant investments in charging infrastructure. Moreover, the high charging power required by CEVs intensifies peak demand, necessitating costly distribution grid upgrades.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a775f119b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a775f119b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a775f119b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a775f119b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f5ca96ab5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f5ca96ab5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f4cbf1e41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f4cbf1e41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CEVs cannot move in between sites; only MCS charges from the grid; Add MCS simulation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cbe7b280e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ccbe7b280e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f4cbf1e41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f4cbf1e41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f4cbf1e41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f4cbf1e41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f5ca96ab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bf5ca96ab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f5ca96ab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f5ca96ab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specs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4cea842c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4cea842c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Hypothetical - give context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4cea842c3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4cea842c3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Compare C and D in a bullet point; next slide for the softer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cbe7b280e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cbe7b280e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4cea842c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4cea842c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 vs D, C vs 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c0dc79face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c0dc79face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0dc79face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c0dc79face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f5ca96ab5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f5ca96ab5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bf5ca96ab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bf5ca96ab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0657aa15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c0657aa15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c0dc79fac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c0dc79fac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c0657aa15d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c0657aa15d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0657aa15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0657aa15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c0716c58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c0716c58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0716c58e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c0716c58e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c0716c58e4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c0716c58e4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c0716c58e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c0716c58e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0716c58e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0716c58e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c0716c58e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c0716c58e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0716c58e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c0716c58e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0716c58e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0716c58e4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c0657aa15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c0657aa15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0657aa15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0657aa15d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c0657aa15d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c0657aa15d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cbb5126cc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cbb5126cc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c4553c32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c4553c32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bb5126cc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cbb5126cc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bb5126cc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cbb5126cc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cbb5126cc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cbb5126cc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c0657aa15d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c0657aa15d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ccbe7b280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ccbe7b280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Alignment with EPIC 5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ccbe7b280e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ccbe7b280e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f4cbf1e4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bf4cbf1e41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f4cbf1e4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bf4cbf1e4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f5ca96ab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bf5ca96ab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c0657aa15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c0657aa15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  <a:solidFill>
            <a:srgbClr val="FFFFFF">
              <a:alpha val="46200"/>
            </a:srgbClr>
          </a:solidFill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2700000">
            <a:off x="-743540" y="3611509"/>
            <a:ext cx="3730130" cy="820102"/>
          </a:xfrm>
          <a:prstGeom prst="rect">
            <a:avLst/>
          </a:prstGeom>
          <a:solidFill>
            <a:srgbClr val="00629B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/>
          <p:nvPr/>
        </p:nvSpPr>
        <p:spPr>
          <a:xfrm rot="-2700000">
            <a:off x="-956023" y="2186419"/>
            <a:ext cx="4139545" cy="820102"/>
          </a:xfrm>
          <a:prstGeom prst="rect">
            <a:avLst/>
          </a:prstGeom>
          <a:solidFill>
            <a:srgbClr val="00629B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/>
          <p:nvPr/>
        </p:nvSpPr>
        <p:spPr>
          <a:xfrm rot="-2700000">
            <a:off x="-624112" y="1491273"/>
            <a:ext cx="1873126" cy="820102"/>
          </a:xfrm>
          <a:prstGeom prst="rect">
            <a:avLst/>
          </a:prstGeom>
          <a:solidFill>
            <a:srgbClr val="00629B">
              <a:alpha val="170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-61775" y="4587025"/>
            <a:ext cx="9358200" cy="39360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" name="Google Shape;58;p13"/>
          <p:cNvCxnSpPr/>
          <p:nvPr/>
        </p:nvCxnSpPr>
        <p:spPr>
          <a:xfrm rot="10800000" flipH="1">
            <a:off x="-575" y="4779925"/>
            <a:ext cx="9235800" cy="7800"/>
          </a:xfrm>
          <a:prstGeom prst="straightConnector1">
            <a:avLst/>
          </a:prstGeom>
          <a:noFill/>
          <a:ln w="19050" cap="flat" cmpd="sng">
            <a:solidFill>
              <a:srgbClr val="FFCD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9" name="Google Shape;59;p13"/>
          <p:cNvGrpSpPr/>
          <p:nvPr/>
        </p:nvGrpSpPr>
        <p:grpSpPr>
          <a:xfrm>
            <a:off x="6963575" y="4587025"/>
            <a:ext cx="1803000" cy="393600"/>
            <a:chOff x="7039775" y="4587025"/>
            <a:chExt cx="1803000" cy="393600"/>
          </a:xfrm>
        </p:grpSpPr>
        <p:sp>
          <p:nvSpPr>
            <p:cNvPr id="60" name="Google Shape;60;p13"/>
            <p:cNvSpPr/>
            <p:nvPr/>
          </p:nvSpPr>
          <p:spPr>
            <a:xfrm>
              <a:off x="7039775" y="4587025"/>
              <a:ext cx="1803000" cy="393600"/>
            </a:xfrm>
            <a:prstGeom prst="rect">
              <a:avLst/>
            </a:prstGeom>
            <a:solidFill>
              <a:srgbClr val="182B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1" name="Google Shape;61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7166462" y="4636450"/>
              <a:ext cx="1549638" cy="294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derconnect.ucsd.edu/greenconstruct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erconnect.ucsd.edu/greenconstruct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z4ApILYiwheytFXWnKv4MjaBO8tPcPCL/view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jp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8.png"/><Relationship Id="rId4" Type="http://schemas.openxmlformats.org/officeDocument/2006/relationships/image" Target="../media/image2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U8jpE-QU5N9ANR24UiIQCsP9Jx4UA5ud/view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ctrTitle"/>
          </p:nvPr>
        </p:nvSpPr>
        <p:spPr>
          <a:xfrm>
            <a:off x="763800" y="539073"/>
            <a:ext cx="7616400" cy="170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90"/>
              <a:t>EPC-24-03</a:t>
            </a:r>
            <a:r>
              <a:rPr lang="en" sz="2345"/>
              <a:t>1 - Green Construct Charge (GCC): Grid-Supportive Mobile Charging Stations for the Electrification and Decarbonization of  Construction Electric Vehicles: CPR 1 meeting</a:t>
            </a:r>
            <a:endParaRPr sz="2345"/>
          </a:p>
        </p:txBody>
      </p:sp>
      <p:sp>
        <p:nvSpPr>
          <p:cNvPr id="108" name="Google Shape;108;p25"/>
          <p:cNvSpPr txBox="1">
            <a:spLocks noGrp="1"/>
          </p:cNvSpPr>
          <p:nvPr>
            <p:ph type="subTitle" idx="1"/>
          </p:nvPr>
        </p:nvSpPr>
        <p:spPr>
          <a:xfrm>
            <a:off x="974650" y="2414711"/>
            <a:ext cx="6970200" cy="13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Presenters: Yuanyuan Shi (PI), Avik Ghosh, Keaton Chia, Mike Ferry, Sasha Doppelt</a:t>
            </a:r>
            <a:endParaRPr sz="17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 Electrical and Computer Engineering, UC San Diego</a:t>
            </a:r>
            <a:endParaRPr sz="170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March 5th, 2026 </a:t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Welcome and Introductions- Yuanyuan Shi (5 min)</a:t>
            </a:r>
            <a:endParaRPr sz="1600"/>
          </a:p>
          <a:p>
            <a:pPr marL="457200" lvl="0" indent="-272256" algn="l" rtl="0">
              <a:spcBef>
                <a:spcPts val="6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Introductions: Name, role, organization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/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Project Overview- Yuanyuan Shi (5 min)</a:t>
            </a:r>
            <a:endParaRPr sz="1600"/>
          </a:p>
          <a:p>
            <a:pPr marL="457200" lvl="0" indent="-272256" algn="l" rtl="0">
              <a:spcBef>
                <a:spcPts val="6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Project Goals and Objectives</a:t>
            </a:r>
            <a:endParaRPr sz="1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/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Project Updates- (35 min)</a:t>
            </a:r>
            <a:endParaRPr sz="1600"/>
          </a:p>
          <a:p>
            <a:pPr marL="457200" lvl="0" indent="-2722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Optimization Framework- Avik Ghosh (10 min)</a:t>
            </a:r>
            <a:endParaRPr sz="1100"/>
          </a:p>
          <a:p>
            <a:pPr marL="457200" lvl="0" indent="-27225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Demonstration and and Data Analytics- Avik Ghosh (5 min)</a:t>
            </a:r>
            <a:endParaRPr sz="1100"/>
          </a:p>
          <a:p>
            <a:pPr marL="457200" lvl="0" indent="-27225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MCS-To-Grid Optimization and Demonstration During Emergency Situations- Keaton Chia (5 min)</a:t>
            </a:r>
            <a:endParaRPr sz="1100"/>
          </a:p>
          <a:p>
            <a:pPr marL="457200" lvl="0" indent="-27225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Challenges &amp; Lessons learned so far- Avik Ghosh &amp; Mike Ferry (10 min)</a:t>
            </a:r>
            <a:endParaRPr sz="1100"/>
          </a:p>
          <a:p>
            <a:pPr marL="457200" lvl="0" indent="-27225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 sz="1100"/>
              <a:t>Administrative Update- Sasha Doppelt (5 min)</a:t>
            </a:r>
            <a:endParaRPr sz="1100"/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Discussion and Q&amp;A roundtable (15 min)</a:t>
            </a:r>
            <a:endParaRPr sz="1600"/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/>
              <a:t>Administrative business- (30 min)</a:t>
            </a:r>
            <a:endParaRPr sz="160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6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PROJECT GOAL</a:t>
            </a:r>
            <a:endParaRPr sz="2500"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311700" y="1180850"/>
            <a:ext cx="4593000" cy="30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/>
              <a:t>California Energy Commission (CEC) grant to demonstrate the </a:t>
            </a:r>
            <a:r>
              <a:rPr lang="en" sz="2600" b="1">
                <a:solidFill>
                  <a:srgbClr val="00629B"/>
                </a:solidFill>
              </a:rPr>
              <a:t>feasibility and value</a:t>
            </a:r>
            <a:r>
              <a:rPr lang="en" sz="2600"/>
              <a:t> of mobile charging stations for charging of construction electric vehicles </a:t>
            </a:r>
            <a:endParaRPr sz="2600"/>
          </a:p>
        </p:txBody>
      </p:sp>
      <p:sp>
        <p:nvSpPr>
          <p:cNvPr id="155" name="Google Shape;155;p28"/>
          <p:cNvSpPr/>
          <p:nvPr/>
        </p:nvSpPr>
        <p:spPr>
          <a:xfrm>
            <a:off x="7164975" y="2358375"/>
            <a:ext cx="868500" cy="44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500"/>
              <a:t>BACKGROUND</a:t>
            </a:r>
            <a:endParaRPr sz="2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9"/>
          <p:cNvSpPr txBox="1">
            <a:spLocks noGrp="1"/>
          </p:cNvSpPr>
          <p:nvPr>
            <p:ph type="body" idx="1"/>
          </p:nvPr>
        </p:nvSpPr>
        <p:spPr>
          <a:xfrm>
            <a:off x="311700" y="854150"/>
            <a:ext cx="4717500" cy="14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1200"/>
              </a:spcAft>
              <a:buSzPts val="2000"/>
              <a:buChar char="❏"/>
            </a:pPr>
            <a:r>
              <a:rPr lang="en" sz="2000"/>
              <a:t>Construction equipment annually produces about 400 metric tons of CO</a:t>
            </a:r>
            <a:r>
              <a:rPr lang="en" sz="1400"/>
              <a:t>2</a:t>
            </a:r>
            <a:r>
              <a:rPr lang="en" sz="2000"/>
              <a:t>, accounting for roughly 1.1% of global emissions</a:t>
            </a:r>
            <a:endParaRPr sz="2000"/>
          </a:p>
        </p:txBody>
      </p:sp>
      <p:sp>
        <p:nvSpPr>
          <p:cNvPr id="165" name="Google Shape;165;p29"/>
          <p:cNvSpPr txBox="1"/>
          <p:nvPr/>
        </p:nvSpPr>
        <p:spPr>
          <a:xfrm>
            <a:off x="235500" y="4312125"/>
            <a:ext cx="951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https://www.idtechex.com/en/research-article/electric-construction-machines-vital-for-greener-construction/26187</a:t>
            </a:r>
            <a:endParaRPr sz="1200"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2331350"/>
            <a:ext cx="8332200" cy="20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Construction industry is linked to the highest number of occupational cancer cases annually, with approximately 8% attributable to diesel exhaust emissions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1200"/>
              </a:spcAft>
              <a:buSzPts val="2000"/>
              <a:buChar char="❏"/>
            </a:pPr>
            <a:r>
              <a:rPr lang="en" sz="2000"/>
              <a:t>Electrifying construction equipment is crucial to reduce carbon emissions and air pollutants, and aiding global climate goals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CHARGING SOLUTIONS AND CHALLENGES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4674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Charging construction electric vehicles (CEVs) at existing fixed charging stations (FCSs) is limited by their low mobility and can obstruct traffic and raise safety concerns</a:t>
            </a:r>
            <a:endParaRPr sz="19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While installing on-site charging facilities for CEVs during construction is an option, it entails substantial capital investment and prolonged permitting procedures</a:t>
            </a: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64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INNOVATION: Mobile Charging Solution for CEVs</a:t>
            </a:r>
            <a:endParaRPr sz="2500"/>
          </a:p>
        </p:txBody>
      </p:sp>
      <p:sp>
        <p:nvSpPr>
          <p:cNvPr id="206" name="Google Shape;206;p32"/>
          <p:cNvSpPr txBox="1"/>
          <p:nvPr/>
        </p:nvSpPr>
        <p:spPr>
          <a:xfrm>
            <a:off x="311700" y="926175"/>
            <a:ext cx="8520600" cy="32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lang="en" sz="2000">
                <a:solidFill>
                  <a:schemeClr val="dk1"/>
                </a:solidFill>
              </a:rPr>
              <a:t>Develop advanced optimization to optimize the charging schedule of CEVs and recharging locations/schedules of MCSs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❏"/>
            </a:pPr>
            <a:r>
              <a:rPr lang="en" sz="2000">
                <a:solidFill>
                  <a:schemeClr val="dk1"/>
                </a:solidFill>
              </a:rPr>
              <a:t>Develop novel machine learning to understand the energy consumption patterns and charging demand of CEVs </a:t>
            </a:r>
            <a:endParaRPr sz="20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Char char="❏"/>
            </a:pPr>
            <a:r>
              <a:rPr lang="en" sz="2000">
                <a:solidFill>
                  <a:schemeClr val="dk1"/>
                </a:solidFill>
              </a:rPr>
              <a:t>Achieve reduced carbon emissions, reduced charging time and costs, and peak power reduction compared to </a:t>
            </a:r>
            <a:r>
              <a:rPr lang="en" sz="2000" b="1">
                <a:solidFill>
                  <a:schemeClr val="dk1"/>
                </a:solidFill>
              </a:rPr>
              <a:t>competing technologies</a:t>
            </a:r>
            <a:r>
              <a:rPr lang="en" sz="2000">
                <a:solidFill>
                  <a:schemeClr val="dk1"/>
                </a:solidFill>
              </a:rPr>
              <a:t>: construction equipment with internal combustion engines and charging CEVs with fixed charging stations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KEY TECHNICAL TASKS FOR THE PROJECT</a:t>
            </a:r>
            <a:endParaRPr sz="27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897"/>
              <a:buFont typeface="Arial"/>
              <a:buNone/>
            </a:pPr>
            <a:endParaRPr sz="24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body" idx="1"/>
          </p:nvPr>
        </p:nvSpPr>
        <p:spPr>
          <a:xfrm>
            <a:off x="230475" y="828000"/>
            <a:ext cx="8832300" cy="3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Task 2: Optimization framework for the MCS-CEV charging/discharging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Task 3: Installation, Data Analytics, and Modeling of MCSs and CEVs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❏"/>
            </a:pPr>
            <a:r>
              <a:rPr lang="en" sz="2000"/>
              <a:t>Task 4: MCS-CEV Testing and Demonstration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1200"/>
              </a:spcAft>
              <a:buSzPts val="2000"/>
              <a:buChar char="❏"/>
            </a:pPr>
            <a:r>
              <a:rPr lang="en" sz="2000"/>
              <a:t>Task 5: MCS-To-Grid Optimization and Demonstration During Emergency Situations </a:t>
            </a:r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>
            <a:spLocks noGrp="1"/>
          </p:cNvSpPr>
          <p:nvPr>
            <p:ph type="title"/>
          </p:nvPr>
        </p:nvSpPr>
        <p:spPr>
          <a:xfrm>
            <a:off x="397300" y="1852629"/>
            <a:ext cx="8520600" cy="103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Task 2: Optimization framework for the MCS-CEV charging/discharging</a:t>
            </a:r>
            <a:endParaRPr sz="332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TOPOLOGY</a:t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425" y="861225"/>
            <a:ext cx="5104800" cy="35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 rotWithShape="1">
          <a:blip r:embed="rId4">
            <a:alphaModFix/>
          </a:blip>
          <a:srcRect b="16743"/>
          <a:stretch/>
        </p:blipFill>
        <p:spPr>
          <a:xfrm>
            <a:off x="4140325" y="3380376"/>
            <a:ext cx="747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325" y="1853764"/>
            <a:ext cx="747000" cy="3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/>
        </p:nvSpPr>
        <p:spPr>
          <a:xfrm>
            <a:off x="3627718" y="3380377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27" name="Google Shape;227;p35"/>
          <p:cNvSpPr txBox="1"/>
          <p:nvPr/>
        </p:nvSpPr>
        <p:spPr>
          <a:xfrm>
            <a:off x="3626592" y="1838782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2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TOPOLOGY</a:t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425" y="861225"/>
            <a:ext cx="5104800" cy="35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 rotWithShape="1">
          <a:blip r:embed="rId4">
            <a:alphaModFix/>
          </a:blip>
          <a:srcRect b="16743"/>
          <a:stretch/>
        </p:blipFill>
        <p:spPr>
          <a:xfrm>
            <a:off x="5643450" y="3012526"/>
            <a:ext cx="747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8050" y="2164539"/>
            <a:ext cx="747000" cy="3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6"/>
          <p:cNvSpPr txBox="1"/>
          <p:nvPr/>
        </p:nvSpPr>
        <p:spPr>
          <a:xfrm>
            <a:off x="5725193" y="3221805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7" name="Google Shape;237;p36"/>
          <p:cNvSpPr txBox="1"/>
          <p:nvPr/>
        </p:nvSpPr>
        <p:spPr>
          <a:xfrm>
            <a:off x="5699792" y="1921232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2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311700" y="90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FRAMEWORK</a:t>
            </a:r>
            <a:endParaRPr/>
          </a:p>
        </p:txBody>
      </p:sp>
      <p:sp>
        <p:nvSpPr>
          <p:cNvPr id="243" name="Google Shape;243;p37"/>
          <p:cNvSpPr txBox="1"/>
          <p:nvPr/>
        </p:nvSpPr>
        <p:spPr>
          <a:xfrm>
            <a:off x="162425" y="2122900"/>
            <a:ext cx="1425000" cy="12624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CEV Data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MCS Data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FCS Data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Electricity price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Carbon emissions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44" name="Google Shape;244;p37"/>
          <p:cNvCxnSpPr/>
          <p:nvPr/>
        </p:nvCxnSpPr>
        <p:spPr>
          <a:xfrm>
            <a:off x="1587431" y="2757850"/>
            <a:ext cx="4725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45" name="Google Shape;245;p37"/>
          <p:cNvSpPr txBox="1"/>
          <p:nvPr/>
        </p:nvSpPr>
        <p:spPr>
          <a:xfrm>
            <a:off x="457781" y="1676081"/>
            <a:ext cx="8343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INPUTS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2067563" y="1041100"/>
            <a:ext cx="4496700" cy="3426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3796787" y="634065"/>
            <a:ext cx="1151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APPROACH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7052075" y="2254750"/>
            <a:ext cx="1971000" cy="998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Optimal MCS-CEV operation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Minimum electricity costs and carbon emissions</a:t>
            </a:r>
            <a:endParaRPr sz="1000">
              <a:solidFill>
                <a:schemeClr val="dk1"/>
              </a:solidFill>
            </a:endParaRPr>
          </a:p>
          <a:p>
            <a:pPr marL="114300" lvl="0" indent="-1206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Peak load reduction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7487097" y="1782400"/>
            <a:ext cx="974700" cy="3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OUTPUTS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250" name="Google Shape;250;p37"/>
          <p:cNvCxnSpPr>
            <a:stCxn id="246" idx="3"/>
            <a:endCxn id="248" idx="1"/>
          </p:cNvCxnSpPr>
          <p:nvPr/>
        </p:nvCxnSpPr>
        <p:spPr>
          <a:xfrm>
            <a:off x="6564263" y="2754100"/>
            <a:ext cx="48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1" name="Google Shape;251;p37"/>
          <p:cNvSpPr txBox="1"/>
          <p:nvPr/>
        </p:nvSpPr>
        <p:spPr>
          <a:xfrm>
            <a:off x="2222850" y="1629000"/>
            <a:ext cx="2059800" cy="90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</a:rPr>
              <a:t>Calculate </a:t>
            </a:r>
            <a:r>
              <a:rPr lang="en" sz="1000" b="1">
                <a:solidFill>
                  <a:schemeClr val="dk2"/>
                </a:solidFill>
              </a:rPr>
              <a:t>MCS charging power</a:t>
            </a:r>
            <a:r>
              <a:rPr lang="en" sz="1000">
                <a:solidFill>
                  <a:schemeClr val="dk2"/>
                </a:solidFill>
              </a:rPr>
              <a:t> considering CEV energy demand, travel, electricity and carbon emission prices</a:t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4530950" y="1629000"/>
            <a:ext cx="1860600" cy="903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2"/>
                </a:solidFill>
              </a:rPr>
              <a:t>Dispatch MCS</a:t>
            </a:r>
            <a:r>
              <a:rPr lang="en" sz="1000">
                <a:solidFill>
                  <a:schemeClr val="dk2"/>
                </a:solidFill>
              </a:rPr>
              <a:t> to construction sites by selecting MCS location and departure/arrival times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3" name="Google Shape;253;p37"/>
          <p:cNvSpPr txBox="1"/>
          <p:nvPr/>
        </p:nvSpPr>
        <p:spPr>
          <a:xfrm>
            <a:off x="2322450" y="3231900"/>
            <a:ext cx="1860600" cy="531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2"/>
                </a:solidFill>
              </a:rPr>
              <a:t>Return MCSs</a:t>
            </a:r>
            <a:r>
              <a:rPr lang="en" sz="1000">
                <a:solidFill>
                  <a:schemeClr val="dk2"/>
                </a:solidFill>
              </a:rPr>
              <a:t> to grid nodes for recharging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4530950" y="3157500"/>
            <a:ext cx="1860600" cy="674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>
                <a:solidFill>
                  <a:schemeClr val="dk2"/>
                </a:solidFill>
              </a:rPr>
              <a:t>Charge CEVs </a:t>
            </a:r>
            <a:r>
              <a:rPr lang="en" sz="1000">
                <a:solidFill>
                  <a:schemeClr val="dk2"/>
                </a:solidFill>
              </a:rPr>
              <a:t>and manage their operations based on their working schedule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5" name="Google Shape;255;p37"/>
          <p:cNvCxnSpPr>
            <a:stCxn id="252" idx="2"/>
            <a:endCxn id="254" idx="0"/>
          </p:cNvCxnSpPr>
          <p:nvPr/>
        </p:nvCxnSpPr>
        <p:spPr>
          <a:xfrm>
            <a:off x="5461250" y="2532600"/>
            <a:ext cx="0" cy="62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6" name="Google Shape;256;p37"/>
          <p:cNvCxnSpPr>
            <a:stCxn id="253" idx="0"/>
            <a:endCxn id="251" idx="2"/>
          </p:cNvCxnSpPr>
          <p:nvPr/>
        </p:nvCxnSpPr>
        <p:spPr>
          <a:xfrm rot="10800000">
            <a:off x="3252750" y="2532600"/>
            <a:ext cx="0" cy="69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7" name="Google Shape;257;p37"/>
          <p:cNvCxnSpPr>
            <a:endCxn id="252" idx="1"/>
          </p:cNvCxnSpPr>
          <p:nvPr/>
        </p:nvCxnSpPr>
        <p:spPr>
          <a:xfrm rot="10800000" flipH="1">
            <a:off x="4282550" y="2080800"/>
            <a:ext cx="248400" cy="3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37"/>
          <p:cNvCxnSpPr>
            <a:stCxn id="254" idx="1"/>
          </p:cNvCxnSpPr>
          <p:nvPr/>
        </p:nvCxnSpPr>
        <p:spPr>
          <a:xfrm flipH="1">
            <a:off x="4208750" y="3494850"/>
            <a:ext cx="322200" cy="5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>
            <a:spLocks noGrp="1"/>
          </p:cNvSpPr>
          <p:nvPr>
            <p:ph type="title"/>
          </p:nvPr>
        </p:nvSpPr>
        <p:spPr>
          <a:xfrm>
            <a:off x="301675" y="36525"/>
            <a:ext cx="8520600" cy="5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FORMULATION</a:t>
            </a:r>
            <a:endParaRPr/>
          </a:p>
        </p:txBody>
      </p:sp>
      <p:sp>
        <p:nvSpPr>
          <p:cNvPr id="264" name="Google Shape;264;p38"/>
          <p:cNvSpPr/>
          <p:nvPr/>
        </p:nvSpPr>
        <p:spPr>
          <a:xfrm rot="-5400000">
            <a:off x="3038750" y="891442"/>
            <a:ext cx="232500" cy="1340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  <a:highlight>
                <a:srgbClr val="990000"/>
              </a:highlight>
            </a:endParaRPr>
          </a:p>
        </p:txBody>
      </p:sp>
      <p:sp>
        <p:nvSpPr>
          <p:cNvPr id="265" name="Google Shape;265;p38"/>
          <p:cNvSpPr/>
          <p:nvPr/>
        </p:nvSpPr>
        <p:spPr>
          <a:xfrm rot="-5400000">
            <a:off x="4583300" y="888067"/>
            <a:ext cx="190800" cy="1310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9900"/>
              </a:solidFill>
            </a:endParaRPr>
          </a:p>
        </p:txBody>
      </p:sp>
      <p:sp>
        <p:nvSpPr>
          <p:cNvPr id="266" name="Google Shape;266;p38"/>
          <p:cNvSpPr/>
          <p:nvPr/>
        </p:nvSpPr>
        <p:spPr>
          <a:xfrm rot="-5400000">
            <a:off x="8048275" y="863092"/>
            <a:ext cx="259500" cy="139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38"/>
          <p:cNvSpPr/>
          <p:nvPr/>
        </p:nvSpPr>
        <p:spPr>
          <a:xfrm rot="-5400000">
            <a:off x="6320075" y="694167"/>
            <a:ext cx="225300" cy="17250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rgbClr val="99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8"/>
          <p:cNvSpPr txBox="1"/>
          <p:nvPr/>
        </p:nvSpPr>
        <p:spPr>
          <a:xfrm>
            <a:off x="2296325" y="1773092"/>
            <a:ext cx="14241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00"/>
                </a:solidFill>
              </a:rPr>
              <a:t>Carbon emissions</a:t>
            </a:r>
            <a:endParaRPr sz="1200">
              <a:solidFill>
                <a:srgbClr val="990000"/>
              </a:solidFill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3907048" y="1773092"/>
            <a:ext cx="14241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</a:rPr>
              <a:t>Electricity costs</a:t>
            </a:r>
            <a:endParaRPr sz="1200">
              <a:solidFill>
                <a:srgbClr val="FF9900"/>
              </a:solidFill>
            </a:endParaRPr>
          </a:p>
        </p:txBody>
      </p:sp>
      <p:sp>
        <p:nvSpPr>
          <p:cNvPr id="270" name="Google Shape;270;p38"/>
          <p:cNvSpPr txBox="1"/>
          <p:nvPr/>
        </p:nvSpPr>
        <p:spPr>
          <a:xfrm>
            <a:off x="5517776" y="1773092"/>
            <a:ext cx="19260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00FF"/>
                </a:solidFill>
              </a:rPr>
              <a:t>Peak demand charges</a:t>
            </a:r>
            <a:endParaRPr sz="1200">
              <a:solidFill>
                <a:srgbClr val="9900FF"/>
              </a:solidFill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7295100" y="1773092"/>
            <a:ext cx="18489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</a:rPr>
              <a:t>Penalty for missed work</a:t>
            </a:r>
            <a:endParaRPr sz="1200">
              <a:solidFill>
                <a:srgbClr val="0000FF"/>
              </a:solidFill>
            </a:endParaRPr>
          </a:p>
        </p:txBody>
      </p:sp>
      <p:pic>
        <p:nvPicPr>
          <p:cNvPr id="272" name="Google Shape;272;p38" title="{&quot;red&quot;:0,&quot;green&quot;:0,&quot;blue&quot;:0,&quot;origURL&quot;:&quot;https://www.codecogs.com/eqnedit.php?latex=%20%5Cmathop%7B%5Ctext%7Bminimize%7D%7D%5Climits_%7B%5C%7BP_%7Bm%2Ci%2Ct%7D%5E%7B%5Ctext%7Bch%2Ctot%7D%7D%2C%20P_%7Bm%2Ci%2Ct%7D%5E%7B%5Ctext%7Bdch%2Ctot%7D%7D%2C%20P_%7Bi%2Ce%2Ct%7D%5E%7B%5Ctext%7Bwork%7D%7D%5C%7D_%7B(m%2Ci%2Ct)%5Cin%20%7BM%7D%5Ctimes%7BN%7D%5Ctimes%20%7BT%7D%7D%7D%5C%2C%20%5Csum_%7Bm%2Ct%7DP_%7Bm%2Ct%7D%5E%7B%5Ctext%7Bch%2Ctot%7D%7D%5Clambda_%7Bt%7D%5E%7B%5Ctext%20%7BCO%7D_%7B2%7D%7D%5CDelta%20T%2BP_%7Bm%2Ct%7D%5E%7B%5Ctext%7Bch%2Ctot%7D%7D%5Clambda_%7Bt%7D%5E%7B%5Ctext%7Bbuy%2Celec%7D%7D%5CDelta%20T%2B%20%5Clambda%5E%7B%5Ctext%7Bdc%7D%7D%5Cmax%20%5CBigl%5C%7B%5Csum_%7Bm%7DP_%7Bm%2Ct%7D%5E%7B%5Ctext%7Bch%2Ctot%7D%7D%5CBigr%5C%7D_%7Bt%5Cin%20%7BT%7D%7D%2B%5Crho%5E%7B%5Ctext%7Bmiss%7D%7D%5Csum_%7Bi%2Ce%2Ct%7DP%5E%7B%5Ctext%7Bmissed%7D%7D_%7Bi%2Ce%2Ct%7D#0&quot;,&quot;size&quot;:10,&quot;width&quot;:472.5118110236221,&quot;height&quot;:82.4173228346456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80" y="987255"/>
            <a:ext cx="8724695" cy="443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3" name="Google Shape;273;p38"/>
          <p:cNvCxnSpPr/>
          <p:nvPr/>
        </p:nvCxnSpPr>
        <p:spPr>
          <a:xfrm rot="10800000">
            <a:off x="324475" y="1460725"/>
            <a:ext cx="18000" cy="967800"/>
          </a:xfrm>
          <a:prstGeom prst="straightConnector1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4" name="Google Shape;274;p38"/>
          <p:cNvCxnSpPr/>
          <p:nvPr/>
        </p:nvCxnSpPr>
        <p:spPr>
          <a:xfrm rot="10800000" flipH="1">
            <a:off x="348825" y="1460634"/>
            <a:ext cx="342600" cy="958500"/>
          </a:xfrm>
          <a:prstGeom prst="straightConnector1">
            <a:avLst/>
          </a:prstGeom>
          <a:noFill/>
          <a:ln w="9525" cap="flat" cmpd="sng">
            <a:solidFill>
              <a:srgbClr val="FF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5" name="Google Shape;275;p38"/>
          <p:cNvSpPr txBox="1"/>
          <p:nvPr/>
        </p:nvSpPr>
        <p:spPr>
          <a:xfrm>
            <a:off x="0" y="2375627"/>
            <a:ext cx="14817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FF"/>
                </a:solidFill>
              </a:rPr>
              <a:t>When, where and by how much to charge/discharge MCS</a:t>
            </a:r>
            <a:endParaRPr sz="1200">
              <a:solidFill>
                <a:srgbClr val="FF00FF"/>
              </a:solidFill>
            </a:endParaRPr>
          </a:p>
        </p:txBody>
      </p:sp>
      <p:cxnSp>
        <p:nvCxnSpPr>
          <p:cNvPr id="276" name="Google Shape;276;p38"/>
          <p:cNvCxnSpPr/>
          <p:nvPr/>
        </p:nvCxnSpPr>
        <p:spPr>
          <a:xfrm rot="10800000">
            <a:off x="1225325" y="1455271"/>
            <a:ext cx="11400" cy="32280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77" name="Google Shape;277;p38"/>
          <p:cNvSpPr txBox="1"/>
          <p:nvPr/>
        </p:nvSpPr>
        <p:spPr>
          <a:xfrm>
            <a:off x="628000" y="1732099"/>
            <a:ext cx="14817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8761D"/>
                </a:solidFill>
              </a:rPr>
              <a:t>When, where and by how much to work with CEVs</a:t>
            </a:r>
            <a:endParaRPr sz="1200">
              <a:solidFill>
                <a:srgbClr val="38761D"/>
              </a:solidFill>
            </a:endParaRPr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/>
          </p:nvPr>
        </p:nvSpPr>
        <p:spPr>
          <a:xfrm>
            <a:off x="358800" y="496297"/>
            <a:ext cx="2302500" cy="50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Objective function</a:t>
            </a:r>
            <a:endParaRPr sz="1720" b="1"/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358800" y="3130115"/>
            <a:ext cx="2302500" cy="3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 b="1"/>
              <a:t>Constraints</a:t>
            </a:r>
            <a:endParaRPr sz="1720" b="1"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/>
          </p:nvPr>
        </p:nvSpPr>
        <p:spPr>
          <a:xfrm>
            <a:off x="340200" y="3469776"/>
            <a:ext cx="8463600" cy="10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78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0"/>
              <a:buChar char="●"/>
            </a:pPr>
            <a:r>
              <a:rPr lang="en" sz="1720"/>
              <a:t>Charging/Discharging power constraints of MCSs/CEVs</a:t>
            </a:r>
            <a:endParaRPr sz="1720"/>
          </a:p>
          <a:p>
            <a:pPr marL="457200" lvl="0" indent="-33782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20"/>
              <a:buChar char="●"/>
            </a:pPr>
            <a:r>
              <a:rPr lang="en" sz="1800"/>
              <a:t>Energy consumption and state of energy constraints of MCS and CEVs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Spatial movement and connection status constraints of MCS</a:t>
            </a:r>
            <a:endParaRPr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Operation Strategies</a:t>
            </a:r>
            <a:endParaRPr/>
          </a:p>
        </p:txBody>
      </p:sp>
      <p:graphicFrame>
        <p:nvGraphicFramePr>
          <p:cNvPr id="286" name="Google Shape;286;p39"/>
          <p:cNvGraphicFramePr/>
          <p:nvPr/>
        </p:nvGraphicFramePr>
        <p:xfrm>
          <a:off x="430225" y="136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{E0A04F6C-3C15-4A04-A14E-88EC01F97B91}</a:tableStyleId>
              </a:tblPr>
              <a:tblGrid>
                <a:gridCol w="422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Operation Strategy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FCS present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MCS present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MCS optimally scheduling</a:t>
                      </a:r>
                      <a:endParaRPr sz="1000" b="1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200"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lphaUcPeriod"/>
                      </a:pPr>
                      <a:r>
                        <a:rPr lang="en" sz="1000" b="1"/>
                        <a:t>Using ICE-powered construction vehicles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N/A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100"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lphaUcPeriod" startAt="2"/>
                      </a:pPr>
                      <a:r>
                        <a:rPr lang="en" sz="1000" b="1"/>
                        <a:t>Charging the CEVs directly from the grid through FCS -  No MCS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Yes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N/A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100"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lphaUcPeriod" startAt="3"/>
                      </a:pPr>
                      <a:r>
                        <a:rPr lang="en" sz="1000" b="1"/>
                        <a:t>Charging the CEVs from the MCSs without optimal scheduling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Yes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100">
                <a:tc>
                  <a:txBody>
                    <a:bodyPr/>
                    <a:lstStyle/>
                    <a:p>
                      <a:pPr marL="457200" lvl="0" indent="-2921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AutoNum type="alphaUcPeriod" startAt="4"/>
                      </a:pPr>
                      <a:r>
                        <a:rPr lang="en" sz="1000" b="1"/>
                        <a:t>Charging the CEVs from the MCS with the proposed optimization framework (Ours)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Yes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Yes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Topology for the scenarios</a:t>
            </a:r>
            <a:endParaRPr/>
          </a:p>
        </p:txBody>
      </p:sp>
      <p:pic>
        <p:nvPicPr>
          <p:cNvPr id="292" name="Google Shape;292;p40" title="Screenshot 2026-02-22 at 6.19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100" y="1502279"/>
            <a:ext cx="3575150" cy="16250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3" name="Google Shape;293;p40"/>
          <p:cNvSpPr txBox="1"/>
          <p:nvPr/>
        </p:nvSpPr>
        <p:spPr>
          <a:xfrm>
            <a:off x="480055" y="917005"/>
            <a:ext cx="379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Scenario 1:</a:t>
            </a:r>
            <a:r>
              <a:rPr lang="en" sz="1800">
                <a:solidFill>
                  <a:schemeClr val="dk1"/>
                </a:solidFill>
              </a:rPr>
              <a:t> 1 site; 2 CEVs; 1 MCS</a:t>
            </a:r>
            <a:endParaRPr sz="1800"/>
          </a:p>
        </p:txBody>
      </p:sp>
      <p:pic>
        <p:nvPicPr>
          <p:cNvPr id="294" name="Google Shape;29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4575" y="1502266"/>
            <a:ext cx="3575150" cy="250413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95" name="Google Shape;295;p40"/>
          <p:cNvSpPr txBox="1"/>
          <p:nvPr/>
        </p:nvSpPr>
        <p:spPr>
          <a:xfrm>
            <a:off x="4671075" y="918665"/>
            <a:ext cx="4023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Scenario 2:</a:t>
            </a:r>
            <a:r>
              <a:rPr lang="en" sz="1800">
                <a:solidFill>
                  <a:schemeClr val="dk1"/>
                </a:solidFill>
              </a:rPr>
              <a:t> 2 sites; 4 CEVs; 2 MCSs</a:t>
            </a:r>
            <a:endParaRPr sz="1800"/>
          </a:p>
        </p:txBody>
      </p:sp>
      <p:pic>
        <p:nvPicPr>
          <p:cNvPr id="296" name="Google Shape;296;p40"/>
          <p:cNvPicPr preferRelativeResize="0"/>
          <p:nvPr/>
        </p:nvPicPr>
        <p:blipFill rotWithShape="1">
          <a:blip r:embed="rId5">
            <a:alphaModFix/>
          </a:blip>
          <a:srcRect b="16743"/>
          <a:stretch/>
        </p:blipFill>
        <p:spPr>
          <a:xfrm>
            <a:off x="6366425" y="3164278"/>
            <a:ext cx="747000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6425" y="2208461"/>
            <a:ext cx="747000" cy="358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0"/>
          <p:cNvSpPr txBox="1"/>
          <p:nvPr/>
        </p:nvSpPr>
        <p:spPr>
          <a:xfrm>
            <a:off x="5853818" y="3164279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5852692" y="2193479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2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5">
            <a:alphaModFix/>
          </a:blip>
          <a:srcRect b="16743"/>
          <a:stretch/>
        </p:blipFill>
        <p:spPr>
          <a:xfrm>
            <a:off x="2301275" y="2604941"/>
            <a:ext cx="747000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0"/>
          <p:cNvSpPr txBox="1"/>
          <p:nvPr/>
        </p:nvSpPr>
        <p:spPr>
          <a:xfrm>
            <a:off x="2383018" y="2392066"/>
            <a:ext cx="5835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MCS 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02" name="Google Shape;302;p40"/>
          <p:cNvSpPr txBox="1"/>
          <p:nvPr/>
        </p:nvSpPr>
        <p:spPr>
          <a:xfrm>
            <a:off x="429312" y="3174825"/>
            <a:ext cx="394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Similar setup to the 1</a:t>
            </a:r>
            <a:r>
              <a:rPr lang="en" sz="1200" baseline="30000">
                <a:solidFill>
                  <a:schemeClr val="dk1"/>
                </a:solidFill>
              </a:rPr>
              <a:t>st</a:t>
            </a:r>
            <a:r>
              <a:rPr lang="en" sz="1200">
                <a:solidFill>
                  <a:schemeClr val="dk1"/>
                </a:solidFill>
              </a:rPr>
              <a:t> phase demonstration @ UCSD</a:t>
            </a:r>
            <a:endParaRPr sz="1200"/>
          </a:p>
        </p:txBody>
      </p:sp>
      <p:sp>
        <p:nvSpPr>
          <p:cNvPr id="303" name="Google Shape;303;p40"/>
          <p:cNvSpPr txBox="1"/>
          <p:nvPr/>
        </p:nvSpPr>
        <p:spPr>
          <a:xfrm>
            <a:off x="429300" y="3959831"/>
            <a:ext cx="8570700" cy="6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CEV 1: Electric mini excavator </a:t>
            </a:r>
            <a:r>
              <a:rPr lang="en" sz="1100" b="1">
                <a:solidFill>
                  <a:schemeClr val="dk2"/>
                </a:solidFill>
              </a:rPr>
              <a:t>(JCB 19C-1E)</a:t>
            </a:r>
            <a:r>
              <a:rPr lang="en" sz="1100">
                <a:solidFill>
                  <a:schemeClr val="dk2"/>
                </a:solidFill>
              </a:rPr>
              <a:t>; CEV 2: Electric telehandler </a:t>
            </a:r>
            <a:r>
              <a:rPr lang="en" sz="1100" b="1">
                <a:solidFill>
                  <a:schemeClr val="dk2"/>
                </a:solidFill>
              </a:rPr>
              <a:t>(JCB 505-20E)</a:t>
            </a:r>
            <a:r>
              <a:rPr lang="en" sz="1100">
                <a:solidFill>
                  <a:schemeClr val="dk2"/>
                </a:solidFill>
              </a:rPr>
              <a:t> </a:t>
            </a:r>
            <a:endParaRPr sz="11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CEV 3: Electric compact excavator </a:t>
            </a:r>
            <a:r>
              <a:rPr lang="en" sz="1100" b="1">
                <a:solidFill>
                  <a:schemeClr val="dk2"/>
                </a:solidFill>
              </a:rPr>
              <a:t>(Volvo ECR25)</a:t>
            </a:r>
            <a:r>
              <a:rPr lang="en" sz="1100">
                <a:solidFill>
                  <a:schemeClr val="dk2"/>
                </a:solidFill>
              </a:rPr>
              <a:t>; CEV 4: Electric wheel loader </a:t>
            </a:r>
            <a:r>
              <a:rPr lang="en" sz="1100" b="1">
                <a:solidFill>
                  <a:schemeClr val="dk2"/>
                </a:solidFill>
              </a:rPr>
              <a:t>(Volvo L20 electric)</a:t>
            </a:r>
            <a:endParaRPr sz="1100" b="1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MCS 1 and 2: </a:t>
            </a:r>
            <a:r>
              <a:rPr lang="en" sz="1100" b="1">
                <a:solidFill>
                  <a:schemeClr val="dk2"/>
                </a:solidFill>
              </a:rPr>
              <a:t>Saniset J250</a:t>
            </a:r>
            <a:endParaRPr sz="11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311700" y="3860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Input Data</a:t>
            </a:r>
            <a:endParaRPr/>
          </a:p>
        </p:txBody>
      </p:sp>
      <p:pic>
        <p:nvPicPr>
          <p:cNvPr id="309" name="Google Shape;309;p41"/>
          <p:cNvPicPr preferRelativeResize="0"/>
          <p:nvPr/>
        </p:nvPicPr>
        <p:blipFill rotWithShape="1">
          <a:blip r:embed="rId3">
            <a:alphaModFix/>
          </a:blip>
          <a:srcRect b="50047"/>
          <a:stretch/>
        </p:blipFill>
        <p:spPr>
          <a:xfrm>
            <a:off x="345100" y="1319850"/>
            <a:ext cx="3831251" cy="149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 rotWithShape="1">
          <a:blip r:embed="rId4">
            <a:alphaModFix/>
          </a:blip>
          <a:srcRect t="-3831"/>
          <a:stretch/>
        </p:blipFill>
        <p:spPr>
          <a:xfrm>
            <a:off x="4572000" y="934900"/>
            <a:ext cx="4325000" cy="218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1"/>
          <p:cNvSpPr txBox="1"/>
          <p:nvPr/>
        </p:nvSpPr>
        <p:spPr>
          <a:xfrm>
            <a:off x="741863" y="2861325"/>
            <a:ext cx="33984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Working schedules of CEVs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4888850" y="3120000"/>
            <a:ext cx="41037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Electricity rate and carbon emissions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>
            <a:spLocks noGrp="1"/>
          </p:cNvSpPr>
          <p:nvPr>
            <p:ph type="title"/>
          </p:nvPr>
        </p:nvSpPr>
        <p:spPr>
          <a:xfrm>
            <a:off x="311700" y="517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CASE STUDY: Results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18" name="Google Shape;318;p42"/>
          <p:cNvGraphicFramePr/>
          <p:nvPr/>
        </p:nvGraphicFramePr>
        <p:xfrm>
          <a:off x="969200" y="7031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{E0A04F6C-3C15-4A04-A14E-88EC01F97B91}</a:tableStyleId>
              </a:tblPr>
              <a:tblGrid>
                <a:gridCol w="200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/>
                        <a:t>Operation strategy</a:t>
                      </a:r>
                      <a:endParaRPr sz="1000" b="1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</a:t>
                      </a:r>
                      <a:r>
                        <a:rPr lang="en" sz="1000" baseline="-25000"/>
                        <a:t>2</a:t>
                      </a:r>
                      <a:r>
                        <a:rPr lang="en" sz="1000"/>
                        <a:t> emissions (kg)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Energy cost ($)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Peak demand (kW)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Missed work (kWh)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 (ICE)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30.26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14.74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NA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 (FCS without MCS)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4.75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9.86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16.80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 (MCS but not optimal)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4.73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9.95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 (MCS and Optimal)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3.55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7.5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9.18</a:t>
                      </a:r>
                      <a:endParaRPr sz="10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19" name="Google Shape;319;p42"/>
          <p:cNvCxnSpPr/>
          <p:nvPr/>
        </p:nvCxnSpPr>
        <p:spPr>
          <a:xfrm>
            <a:off x="3450950" y="1267859"/>
            <a:ext cx="0" cy="3819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0" name="Google Shape;320;p42"/>
          <p:cNvCxnSpPr/>
          <p:nvPr/>
        </p:nvCxnSpPr>
        <p:spPr>
          <a:xfrm flipH="1">
            <a:off x="3813200" y="1267859"/>
            <a:ext cx="900" cy="8958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1" name="Google Shape;321;p42"/>
          <p:cNvCxnSpPr/>
          <p:nvPr/>
        </p:nvCxnSpPr>
        <p:spPr>
          <a:xfrm>
            <a:off x="4795400" y="1253434"/>
            <a:ext cx="0" cy="3819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2" name="Google Shape;322;p42"/>
          <p:cNvCxnSpPr/>
          <p:nvPr/>
        </p:nvCxnSpPr>
        <p:spPr>
          <a:xfrm flipH="1">
            <a:off x="5157650" y="1253434"/>
            <a:ext cx="900" cy="8958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23" name="Google Shape;323;p42"/>
          <p:cNvCxnSpPr/>
          <p:nvPr/>
        </p:nvCxnSpPr>
        <p:spPr>
          <a:xfrm>
            <a:off x="5920625" y="1557634"/>
            <a:ext cx="0" cy="645000"/>
          </a:xfrm>
          <a:prstGeom prst="straightConnector1">
            <a:avLst/>
          </a:prstGeom>
          <a:noFill/>
          <a:ln w="9525" cap="flat" cmpd="sng">
            <a:solidFill>
              <a:srgbClr val="6AA84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24" name="Google Shape;324;p42"/>
          <p:cNvSpPr txBox="1"/>
          <p:nvPr/>
        </p:nvSpPr>
        <p:spPr>
          <a:xfrm rot="-5400000">
            <a:off x="3289610" y="1106389"/>
            <a:ext cx="5796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761D"/>
                </a:solidFill>
              </a:rPr>
              <a:t>- 84%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325" name="Google Shape;325;p42"/>
          <p:cNvSpPr txBox="1"/>
          <p:nvPr/>
        </p:nvSpPr>
        <p:spPr>
          <a:xfrm rot="-5400000">
            <a:off x="3638793" y="1666236"/>
            <a:ext cx="5796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761D"/>
                </a:solidFill>
              </a:rPr>
              <a:t>- 88%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326" name="Google Shape;326;p42"/>
          <p:cNvSpPr txBox="1"/>
          <p:nvPr/>
        </p:nvSpPr>
        <p:spPr>
          <a:xfrm rot="-5400000">
            <a:off x="4620885" y="1108513"/>
            <a:ext cx="5796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761D"/>
                </a:solidFill>
              </a:rPr>
              <a:t>- 33%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327" name="Google Shape;327;p42"/>
          <p:cNvSpPr txBox="1"/>
          <p:nvPr/>
        </p:nvSpPr>
        <p:spPr>
          <a:xfrm rot="-5400000">
            <a:off x="4970068" y="1668359"/>
            <a:ext cx="5796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761D"/>
                </a:solidFill>
              </a:rPr>
              <a:t>- 49%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328" name="Google Shape;328;p42"/>
          <p:cNvSpPr txBox="1"/>
          <p:nvPr/>
        </p:nvSpPr>
        <p:spPr>
          <a:xfrm rot="-5400000">
            <a:off x="5805418" y="1666011"/>
            <a:ext cx="5796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8761D"/>
                </a:solidFill>
              </a:rPr>
              <a:t>- 45%</a:t>
            </a:r>
            <a:endParaRPr sz="900">
              <a:solidFill>
                <a:srgbClr val="38761D"/>
              </a:solidFill>
            </a:endParaRPr>
          </a:p>
        </p:txBody>
      </p:sp>
      <p:sp>
        <p:nvSpPr>
          <p:cNvPr id="329" name="Google Shape;329;p42"/>
          <p:cNvSpPr txBox="1">
            <a:spLocks noGrp="1"/>
          </p:cNvSpPr>
          <p:nvPr>
            <p:ph type="body" idx="1"/>
          </p:nvPr>
        </p:nvSpPr>
        <p:spPr>
          <a:xfrm>
            <a:off x="311700" y="2358075"/>
            <a:ext cx="85206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84-88% drop</a:t>
            </a:r>
            <a:r>
              <a:rPr lang="en" sz="1200"/>
              <a:t> in CO</a:t>
            </a:r>
            <a:r>
              <a:rPr lang="en" sz="1200" baseline="-25000"/>
              <a:t>2</a:t>
            </a:r>
            <a:r>
              <a:rPr lang="en" sz="1200"/>
              <a:t> emissions for CEVs as compared to ICE equipment </a:t>
            </a:r>
            <a:r>
              <a:rPr lang="en" sz="1200" u="sng"/>
              <a:t>(Goal: 50% reduction)</a:t>
            </a:r>
            <a:endParaRPr sz="1200" u="sng"/>
          </a:p>
          <a:p>
            <a:pPr marL="9144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33-49% drop</a:t>
            </a:r>
            <a:r>
              <a:rPr lang="en" sz="1200"/>
              <a:t> in electricity prices for CEVs as compared to ICE equipment</a:t>
            </a:r>
            <a:endParaRPr sz="1200"/>
          </a:p>
          <a:p>
            <a:pPr marL="9144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45% drop</a:t>
            </a:r>
            <a:r>
              <a:rPr lang="en" sz="1200"/>
              <a:t> in peak demand for optimal MCS charging as compared to FCS (</a:t>
            </a:r>
            <a:r>
              <a:rPr lang="en" sz="1200" u="sng"/>
              <a:t>Goal: 10% reduction)</a:t>
            </a:r>
            <a:endParaRPr sz="1200" u="sng"/>
          </a:p>
          <a:p>
            <a:pPr marL="9144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0-75% drop</a:t>
            </a:r>
            <a:r>
              <a:rPr lang="en" sz="1200"/>
              <a:t> in travel times for MCS as compared to CEVs. </a:t>
            </a:r>
            <a:r>
              <a:rPr lang="en" sz="1200" u="sng"/>
              <a:t>(Goal 10% reduction) </a:t>
            </a:r>
            <a:endParaRPr sz="1200" u="sng"/>
          </a:p>
          <a:p>
            <a:pPr marL="9144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Going from strategy C to D:</a:t>
            </a:r>
            <a:endParaRPr sz="1200" b="1"/>
          </a:p>
          <a:p>
            <a:pPr marL="131445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/>
              <a:t>25% drop </a:t>
            </a:r>
            <a:r>
              <a:rPr lang="en" sz="1200"/>
              <a:t>in CO</a:t>
            </a:r>
            <a:r>
              <a:rPr lang="en" sz="1200" baseline="-25000"/>
              <a:t>2</a:t>
            </a:r>
            <a:r>
              <a:rPr lang="en" sz="1200"/>
              <a:t> emissions and energy costs</a:t>
            </a:r>
            <a:endParaRPr sz="1200"/>
          </a:p>
          <a:p>
            <a:pPr marL="1314450" lvl="1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b="1"/>
              <a:t>91% drop</a:t>
            </a:r>
            <a:r>
              <a:rPr lang="en" sz="1200"/>
              <a:t> in peak demand</a:t>
            </a:r>
            <a:endParaRPr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3"/>
          <p:cNvSpPr txBox="1">
            <a:spLocks noGrp="1"/>
          </p:cNvSpPr>
          <p:nvPr>
            <p:ph type="title"/>
          </p:nvPr>
        </p:nvSpPr>
        <p:spPr>
          <a:xfrm>
            <a:off x="311700" y="5177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CASE STUDY: Other Results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body" idx="1"/>
          </p:nvPr>
        </p:nvSpPr>
        <p:spPr>
          <a:xfrm>
            <a:off x="140475" y="624475"/>
            <a:ext cx="8520600" cy="15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u="sng"/>
          </a:p>
          <a:p>
            <a:pPr marL="914400" lvl="0" indent="-3048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1-13% drop</a:t>
            </a:r>
            <a:r>
              <a:rPr lang="en" sz="1200"/>
              <a:t> in noise levels at the operator station for CEVs as compared to ICE equipment</a:t>
            </a:r>
            <a:endParaRPr sz="1200"/>
          </a:p>
          <a:p>
            <a:pPr marL="914400" lvl="0" indent="-3048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 b="1"/>
              <a:t>6-14% drop</a:t>
            </a:r>
            <a:r>
              <a:rPr lang="en" sz="1200"/>
              <a:t> in noise levels externally for CEVs as compared to ICE equipment</a:t>
            </a:r>
            <a:endParaRPr sz="1200"/>
          </a:p>
          <a:p>
            <a:pPr marL="914400" lvl="0" indent="-304800" algn="just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 b="1"/>
              <a:t>$20k-$200k avoided</a:t>
            </a:r>
            <a:r>
              <a:rPr lang="en" sz="1200"/>
              <a:t> additional charging infrastructure investments (buying L2/DCFC chargers, installation, etc.) for MCS as compared to FCS.</a:t>
            </a:r>
            <a:endParaRPr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4"/>
          <p:cNvSpPr txBox="1">
            <a:spLocks noGrp="1"/>
          </p:cNvSpPr>
          <p:nvPr>
            <p:ph type="title"/>
          </p:nvPr>
        </p:nvSpPr>
        <p:spPr>
          <a:xfrm>
            <a:off x="311700" y="-72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Timeseries of MCS/CEV charging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1" name="Google Shape;341;p44" title="B_D_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5925" y="507021"/>
            <a:ext cx="3912653" cy="191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4" title="C_D_1.png"/>
          <p:cNvPicPr preferRelativeResize="0"/>
          <p:nvPr/>
        </p:nvPicPr>
        <p:blipFill rotWithShape="1">
          <a:blip r:embed="rId4">
            <a:alphaModFix/>
          </a:blip>
          <a:srcRect t="768" b="768"/>
          <a:stretch/>
        </p:blipFill>
        <p:spPr>
          <a:xfrm>
            <a:off x="2497125" y="2699875"/>
            <a:ext cx="3851448" cy="18536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3" name="Google Shape;343;p44"/>
          <p:cNvGraphicFramePr/>
          <p:nvPr/>
        </p:nvGraphicFramePr>
        <p:xfrm>
          <a:off x="6854925" y="691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{E0A04F6C-3C15-4A04-A14E-88EC01F97B91}</a:tableStyleId>
              </a:tblPr>
              <a:tblGrid>
                <a:gridCol w="200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Strategy B (FCS without MCS)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Strategy </a:t>
                      </a:r>
                      <a:r>
                        <a:rPr lang="en" sz="1000"/>
                        <a:t>C (MCS but not optimal)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Strategy </a:t>
                      </a:r>
                      <a:r>
                        <a:rPr lang="en" sz="1000"/>
                        <a:t>D (MCS and Optimal)</a:t>
                      </a:r>
                      <a:endParaRPr sz="10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44" name="Google Shape;344;p44"/>
          <p:cNvCxnSpPr/>
          <p:nvPr/>
        </p:nvCxnSpPr>
        <p:spPr>
          <a:xfrm>
            <a:off x="5419725" y="1260257"/>
            <a:ext cx="1500" cy="238500"/>
          </a:xfrm>
          <a:prstGeom prst="straightConnector1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5" name="Google Shape;345;p44"/>
          <p:cNvSpPr txBox="1"/>
          <p:nvPr/>
        </p:nvSpPr>
        <p:spPr>
          <a:xfrm>
            <a:off x="5014245" y="988782"/>
            <a:ext cx="82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D85C6"/>
                </a:solidFill>
              </a:rPr>
              <a:t>16.8 KW</a:t>
            </a:r>
            <a:endParaRPr sz="1000">
              <a:solidFill>
                <a:srgbClr val="3D85C6"/>
              </a:solidFill>
            </a:endParaRPr>
          </a:p>
        </p:txBody>
      </p:sp>
      <p:cxnSp>
        <p:nvCxnSpPr>
          <p:cNvPr id="346" name="Google Shape;346;p44"/>
          <p:cNvCxnSpPr>
            <a:stCxn id="347" idx="1"/>
          </p:cNvCxnSpPr>
          <p:nvPr/>
        </p:nvCxnSpPr>
        <p:spPr>
          <a:xfrm rot="10800000">
            <a:off x="5653946" y="1800997"/>
            <a:ext cx="1489500" cy="110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8" name="Google Shape;348;p44"/>
          <p:cNvCxnSpPr>
            <a:stCxn id="349" idx="3"/>
          </p:cNvCxnSpPr>
          <p:nvPr/>
        </p:nvCxnSpPr>
        <p:spPr>
          <a:xfrm rot="10800000" flipH="1">
            <a:off x="2080275" y="1779900"/>
            <a:ext cx="2317200" cy="90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9" name="Google Shape;349;p44"/>
          <p:cNvSpPr txBox="1"/>
          <p:nvPr/>
        </p:nvSpPr>
        <p:spPr>
          <a:xfrm>
            <a:off x="244275" y="2544450"/>
            <a:ext cx="1836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CEV lunchtime opportunity charging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50" name="Google Shape;350;p44"/>
          <p:cNvCxnSpPr>
            <a:stCxn id="349" idx="3"/>
          </p:cNvCxnSpPr>
          <p:nvPr/>
        </p:nvCxnSpPr>
        <p:spPr>
          <a:xfrm>
            <a:off x="2080275" y="2689200"/>
            <a:ext cx="2428500" cy="110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1" name="Google Shape;351;p44"/>
          <p:cNvCxnSpPr/>
          <p:nvPr/>
        </p:nvCxnSpPr>
        <p:spPr>
          <a:xfrm>
            <a:off x="6005525" y="1327070"/>
            <a:ext cx="1500" cy="238500"/>
          </a:xfrm>
          <a:prstGeom prst="straightConnector1">
            <a:avLst/>
          </a:prstGeom>
          <a:noFill/>
          <a:ln w="952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2" name="Google Shape;352;p44"/>
          <p:cNvSpPr txBox="1"/>
          <p:nvPr/>
        </p:nvSpPr>
        <p:spPr>
          <a:xfrm>
            <a:off x="5661957" y="1055595"/>
            <a:ext cx="82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06666"/>
                </a:solidFill>
              </a:rPr>
              <a:t>9.2 KW</a:t>
            </a:r>
            <a:endParaRPr sz="1000">
              <a:solidFill>
                <a:srgbClr val="E06666"/>
              </a:solidFill>
            </a:endParaRPr>
          </a:p>
        </p:txBody>
      </p:sp>
      <p:cxnSp>
        <p:nvCxnSpPr>
          <p:cNvPr id="353" name="Google Shape;353;p44"/>
          <p:cNvCxnSpPr/>
          <p:nvPr/>
        </p:nvCxnSpPr>
        <p:spPr>
          <a:xfrm>
            <a:off x="5319725" y="2852750"/>
            <a:ext cx="371400" cy="80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44"/>
          <p:cNvSpPr txBox="1"/>
          <p:nvPr/>
        </p:nvSpPr>
        <p:spPr>
          <a:xfrm>
            <a:off x="4732570" y="2667775"/>
            <a:ext cx="82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105 KW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355" name="Google Shape;355;p44"/>
          <p:cNvCxnSpPr/>
          <p:nvPr/>
        </p:nvCxnSpPr>
        <p:spPr>
          <a:xfrm>
            <a:off x="6106125" y="3491075"/>
            <a:ext cx="1500" cy="238500"/>
          </a:xfrm>
          <a:prstGeom prst="straightConnector1">
            <a:avLst/>
          </a:prstGeom>
          <a:noFill/>
          <a:ln w="9525" cap="flat" cmpd="sng">
            <a:solidFill>
              <a:srgbClr val="E0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6" name="Google Shape;356;p44"/>
          <p:cNvSpPr txBox="1"/>
          <p:nvPr/>
        </p:nvSpPr>
        <p:spPr>
          <a:xfrm>
            <a:off x="5762557" y="3219600"/>
            <a:ext cx="82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06666"/>
                </a:solidFill>
              </a:rPr>
              <a:t>9.2 KW</a:t>
            </a:r>
            <a:endParaRPr sz="1000">
              <a:solidFill>
                <a:srgbClr val="E06666"/>
              </a:solidFill>
            </a:endParaRPr>
          </a:p>
        </p:txBody>
      </p:sp>
      <p:sp>
        <p:nvSpPr>
          <p:cNvPr id="347" name="Google Shape;347;p44"/>
          <p:cNvSpPr txBox="1"/>
          <p:nvPr/>
        </p:nvSpPr>
        <p:spPr>
          <a:xfrm>
            <a:off x="7143446" y="2764147"/>
            <a:ext cx="1719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CEV charging post work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57" name="Google Shape;357;p44"/>
          <p:cNvCxnSpPr>
            <a:stCxn id="347" idx="1"/>
          </p:cNvCxnSpPr>
          <p:nvPr/>
        </p:nvCxnSpPr>
        <p:spPr>
          <a:xfrm flipH="1">
            <a:off x="5639846" y="2908897"/>
            <a:ext cx="1503600" cy="1062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8" name="Google Shape;358;p44"/>
          <p:cNvCxnSpPr/>
          <p:nvPr/>
        </p:nvCxnSpPr>
        <p:spPr>
          <a:xfrm>
            <a:off x="1472800" y="963250"/>
            <a:ext cx="3202500" cy="60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9" name="Google Shape;359;p44"/>
          <p:cNvSpPr txBox="1"/>
          <p:nvPr/>
        </p:nvSpPr>
        <p:spPr>
          <a:xfrm>
            <a:off x="-174500" y="731775"/>
            <a:ext cx="1836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MCS recharging while CEV </a:t>
            </a:r>
            <a:endParaRPr sz="800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working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360" name="Google Shape;360;p44"/>
          <p:cNvCxnSpPr/>
          <p:nvPr/>
        </p:nvCxnSpPr>
        <p:spPr>
          <a:xfrm>
            <a:off x="1465825" y="956275"/>
            <a:ext cx="3336300" cy="277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MCS-CEV Optimization Software</a:t>
            </a:r>
            <a:endParaRPr/>
          </a:p>
        </p:txBody>
      </p:sp>
      <p:pic>
        <p:nvPicPr>
          <p:cNvPr id="366" name="Google Shape;366;p45" title="Screenshot 2026-02-26 at 2.39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600" y="889925"/>
            <a:ext cx="5721549" cy="3363651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5"/>
          <p:cNvSpPr txBox="1"/>
          <p:nvPr/>
        </p:nvSpPr>
        <p:spPr>
          <a:xfrm>
            <a:off x="6202650" y="2238775"/>
            <a:ext cx="2847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https://derconnect.ucsd.edu/greenconstruct/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MCS-CEV Optimization Software</a:t>
            </a:r>
            <a:endParaRPr/>
          </a:p>
        </p:txBody>
      </p:sp>
      <p:sp>
        <p:nvSpPr>
          <p:cNvPr id="373" name="Google Shape;373;p46"/>
          <p:cNvSpPr txBox="1"/>
          <p:nvPr/>
        </p:nvSpPr>
        <p:spPr>
          <a:xfrm>
            <a:off x="6202650" y="2238775"/>
            <a:ext cx="2847600" cy="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https://derconnect.ucsd.edu/greenconstruct/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374" name="Google Shape;374;p46" title="Screenshot 2026-02-26 at 3.02.3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250" y="888000"/>
            <a:ext cx="5746002" cy="330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7"/>
          <p:cNvSpPr txBox="1">
            <a:spLocks noGrp="1"/>
          </p:cNvSpPr>
          <p:nvPr>
            <p:ph type="title"/>
          </p:nvPr>
        </p:nvSpPr>
        <p:spPr>
          <a:xfrm>
            <a:off x="366300" y="1413875"/>
            <a:ext cx="85206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990"/>
              <a:buNone/>
            </a:pPr>
            <a:r>
              <a:rPr lang="en" sz="2600" b="1"/>
              <a:t>Task 3: Installation, Data Analytics, and Modeling of MCSs and CEVs</a:t>
            </a:r>
            <a:endParaRPr sz="2600" b="1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 b="1"/>
              <a:t>Task 4: MCS-CEV Testing and Demonstration</a:t>
            </a:r>
            <a:endParaRPr sz="2600"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8"/>
          <p:cNvSpPr txBox="1">
            <a:spLocks noGrp="1"/>
          </p:cNvSpPr>
          <p:nvPr>
            <p:ph type="title"/>
          </p:nvPr>
        </p:nvSpPr>
        <p:spPr>
          <a:xfrm>
            <a:off x="113183" y="1481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AT UCSD</a:t>
            </a:r>
            <a:endParaRPr/>
          </a:p>
        </p:txBody>
      </p:sp>
      <p:sp>
        <p:nvSpPr>
          <p:cNvPr id="385" name="Google Shape;385;p48"/>
          <p:cNvSpPr txBox="1">
            <a:spLocks noGrp="1"/>
          </p:cNvSpPr>
          <p:nvPr>
            <p:ph type="body" idx="1"/>
          </p:nvPr>
        </p:nvSpPr>
        <p:spPr>
          <a:xfrm>
            <a:off x="93050" y="789125"/>
            <a:ext cx="89322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Completed one phase of demonstration of CEVs performing regular construction activity at the RIMAC gym site at UCSD with recharging from an MCS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1 week in October 2025, and 2 weeks in February 2026 - Equipment rented from Sunbelt Rentals</a:t>
            </a:r>
            <a:endParaRPr sz="1600"/>
          </a:p>
        </p:txBody>
      </p:sp>
      <p:pic>
        <p:nvPicPr>
          <p:cNvPr id="386" name="Google Shape;386;p48" title="Screenshot 2026-02-23 at 12.15.2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49" y="1972425"/>
            <a:ext cx="2279474" cy="220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48" title="Screenshot 2026-02-23 at 12.16.23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2975" y="2332888"/>
            <a:ext cx="3533075" cy="148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 txBox="1"/>
          <p:nvPr/>
        </p:nvSpPr>
        <p:spPr>
          <a:xfrm>
            <a:off x="634784" y="4162770"/>
            <a:ext cx="207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JCB mini electric excavator: JCB 19C-1E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89" name="Google Shape;389;p48"/>
          <p:cNvSpPr txBox="1"/>
          <p:nvPr/>
        </p:nvSpPr>
        <p:spPr>
          <a:xfrm>
            <a:off x="3932909" y="3902920"/>
            <a:ext cx="207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JCB electric telehandler: 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JCB 505-20E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90" name="Google Shape;390;p48" title="IMG_7789.jpg"/>
          <p:cNvPicPr preferRelativeResize="0"/>
          <p:nvPr/>
        </p:nvPicPr>
        <p:blipFill rotWithShape="1">
          <a:blip r:embed="rId5">
            <a:alphaModFix/>
          </a:blip>
          <a:srcRect l="6529" r="6529"/>
          <a:stretch/>
        </p:blipFill>
        <p:spPr>
          <a:xfrm>
            <a:off x="6820400" y="1972425"/>
            <a:ext cx="2237880" cy="193049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48"/>
          <p:cNvSpPr txBox="1"/>
          <p:nvPr/>
        </p:nvSpPr>
        <p:spPr>
          <a:xfrm>
            <a:off x="6945634" y="3941170"/>
            <a:ext cx="20796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Moxion MP-75 600 kWh MCS recharging the mini excavator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>
            <a:spLocks noGrp="1"/>
          </p:cNvSpPr>
          <p:nvPr>
            <p:ph type="title"/>
          </p:nvPr>
        </p:nvSpPr>
        <p:spPr>
          <a:xfrm>
            <a:off x="216575" y="76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ANALYTICS OF CEVs</a:t>
            </a:r>
            <a:endParaRPr/>
          </a:p>
        </p:txBody>
      </p:sp>
      <p:sp>
        <p:nvSpPr>
          <p:cNvPr id="412" name="Google Shape;412;p50"/>
          <p:cNvSpPr txBox="1">
            <a:spLocks noGrp="1"/>
          </p:cNvSpPr>
          <p:nvPr>
            <p:ph type="body" idx="1"/>
          </p:nvPr>
        </p:nvSpPr>
        <p:spPr>
          <a:xfrm>
            <a:off x="311700" y="760527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Total 34 hours of video recording of construction activities</a:t>
            </a:r>
            <a:endParaRPr sz="1500"/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Time series of state of charge data for the mini excavator and telehandler were shared through inbuilt JCB Livelink telematics</a:t>
            </a:r>
            <a:endParaRPr sz="1500"/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Identified </a:t>
            </a:r>
            <a:r>
              <a:rPr lang="en" sz="1500" b="1"/>
              <a:t>5 distinct excavator subactivities: digging, loading, swinging, idling, traveling</a:t>
            </a:r>
            <a:endParaRPr sz="1500" b="1"/>
          </a:p>
          <a:p>
            <a:pPr marL="457200" lvl="0" indent="-323850" algn="just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Manually labeled 4 hours of video recording to identify power consumption of the different subactivities</a:t>
            </a:r>
            <a:endParaRPr sz="1500"/>
          </a:p>
          <a:p>
            <a:pPr marL="457200" lvl="0" indent="-323850" algn="just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Currently developing an ML model for </a:t>
            </a:r>
            <a:r>
              <a:rPr lang="en" sz="1500" b="1"/>
              <a:t>automating</a:t>
            </a:r>
            <a:r>
              <a:rPr lang="en" sz="1500"/>
              <a:t> excavator subactivity identification from the videos directly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ANALYSIS OF THE EXCAVATOR</a:t>
            </a:r>
            <a:endParaRPr/>
          </a:p>
        </p:txBody>
      </p:sp>
      <p:pic>
        <p:nvPicPr>
          <p:cNvPr id="418" name="Google Shape;418;p51" title="My Movie 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00" y="882850"/>
            <a:ext cx="6130099" cy="34481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51"/>
          <p:cNvSpPr txBox="1"/>
          <p:nvPr/>
        </p:nvSpPr>
        <p:spPr>
          <a:xfrm>
            <a:off x="6318450" y="2068650"/>
            <a:ext cx="2793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3 most important activities identified here: </a:t>
            </a:r>
            <a:r>
              <a:rPr lang="en" sz="1100" b="1">
                <a:solidFill>
                  <a:schemeClr val="dk1"/>
                </a:solidFill>
              </a:rPr>
              <a:t>digging, loading, swinging</a:t>
            </a:r>
            <a:endParaRPr sz="1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>
            <a:spLocks noGrp="1"/>
          </p:cNvSpPr>
          <p:nvPr>
            <p:ph type="title"/>
          </p:nvPr>
        </p:nvSpPr>
        <p:spPr>
          <a:xfrm>
            <a:off x="311700" y="1347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/>
              <a:t>METHODOLOGY FOR SUBACTIVITY POWER CONSUMPTION</a:t>
            </a:r>
            <a:endParaRPr sz="2220"/>
          </a:p>
        </p:txBody>
      </p:sp>
      <p:pic>
        <p:nvPicPr>
          <p:cNvPr id="425" name="Google Shape;425;p52" title="Screenshot 2026-03-03 at 7.00.28 PM.png"/>
          <p:cNvPicPr preferRelativeResize="0"/>
          <p:nvPr/>
        </p:nvPicPr>
        <p:blipFill rotWithShape="1">
          <a:blip r:embed="rId3">
            <a:alphaModFix/>
          </a:blip>
          <a:srcRect t="-551" r="-1163" b="-1407"/>
          <a:stretch/>
        </p:blipFill>
        <p:spPr>
          <a:xfrm>
            <a:off x="68200" y="931425"/>
            <a:ext cx="2995601" cy="3100411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2"/>
          <p:cNvSpPr txBox="1"/>
          <p:nvPr/>
        </p:nvSpPr>
        <p:spPr>
          <a:xfrm>
            <a:off x="448712" y="486358"/>
            <a:ext cx="2245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Aligning video recording with SOC telematics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427" name="Google Shape;427;p52" title="Screenshot 2025-12-24 at 5.40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1088" y="1124875"/>
            <a:ext cx="3524719" cy="9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2" title="Screenshot 2025-12-24 at 5.41.09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0548" y="1088835"/>
            <a:ext cx="1302725" cy="91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52" title="Screenshot 2025-12-24 at 5.42.4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8425" y="2374191"/>
            <a:ext cx="1193525" cy="1046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2"/>
          <p:cNvSpPr/>
          <p:nvPr/>
        </p:nvSpPr>
        <p:spPr>
          <a:xfrm rot="5400000">
            <a:off x="4991021" y="-534388"/>
            <a:ext cx="223800" cy="33057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  <a:highlight>
                <a:srgbClr val="1155CC"/>
              </a:highlight>
            </a:endParaRPr>
          </a:p>
        </p:txBody>
      </p:sp>
      <p:sp>
        <p:nvSpPr>
          <p:cNvPr id="431" name="Google Shape;431;p52"/>
          <p:cNvSpPr txBox="1"/>
          <p:nvPr/>
        </p:nvSpPr>
        <p:spPr>
          <a:xfrm>
            <a:off x="2963490" y="689318"/>
            <a:ext cx="4111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Time spent on different subactivities for each SOC change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32" name="Google Shape;432;p52"/>
          <p:cNvSpPr/>
          <p:nvPr/>
        </p:nvSpPr>
        <p:spPr>
          <a:xfrm rot="5400000">
            <a:off x="7937377" y="569359"/>
            <a:ext cx="258300" cy="1051200"/>
          </a:xfrm>
          <a:prstGeom prst="leftBrace">
            <a:avLst>
              <a:gd name="adj1" fmla="val 50000"/>
              <a:gd name="adj2" fmla="val 48652"/>
            </a:avLst>
          </a:prstGeom>
          <a:noFill/>
          <a:ln w="101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125" tIns="97125" rIns="97125" bIns="97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7">
              <a:solidFill>
                <a:srgbClr val="CC0000"/>
              </a:solidFill>
              <a:highlight>
                <a:srgbClr val="1155CC"/>
              </a:highlight>
            </a:endParaRPr>
          </a:p>
        </p:txBody>
      </p:sp>
      <p:sp>
        <p:nvSpPr>
          <p:cNvPr id="433" name="Google Shape;433;p52"/>
          <p:cNvSpPr txBox="1"/>
          <p:nvPr/>
        </p:nvSpPr>
        <p:spPr>
          <a:xfrm>
            <a:off x="7106301" y="518464"/>
            <a:ext cx="1674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125" tIns="97125" rIns="97125" bIns="971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8">
                <a:solidFill>
                  <a:schemeClr val="dk1"/>
                </a:solidFill>
              </a:rPr>
              <a:t>Power consumption </a:t>
            </a:r>
            <a:r>
              <a:rPr lang="en" sz="1168">
                <a:solidFill>
                  <a:srgbClr val="0000FF"/>
                </a:solidFill>
              </a:rPr>
              <a:t>(to find out)</a:t>
            </a:r>
            <a:endParaRPr sz="1168">
              <a:solidFill>
                <a:srgbClr val="0000FF"/>
              </a:solidFill>
            </a:endParaRPr>
          </a:p>
        </p:txBody>
      </p:sp>
      <p:sp>
        <p:nvSpPr>
          <p:cNvPr id="434" name="Google Shape;434;p52"/>
          <p:cNvSpPr txBox="1"/>
          <p:nvPr/>
        </p:nvSpPr>
        <p:spPr>
          <a:xfrm>
            <a:off x="4070327" y="2039165"/>
            <a:ext cx="4111200" cy="3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State of energy change corresponding to SOC change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35" name="Google Shape;435;p52"/>
          <p:cNvSpPr/>
          <p:nvPr/>
        </p:nvSpPr>
        <p:spPr>
          <a:xfrm rot="5400000">
            <a:off x="5874877" y="1917009"/>
            <a:ext cx="258300" cy="1051200"/>
          </a:xfrm>
          <a:prstGeom prst="leftBrace">
            <a:avLst>
              <a:gd name="adj1" fmla="val 50000"/>
              <a:gd name="adj2" fmla="val 48652"/>
            </a:avLst>
          </a:prstGeom>
          <a:noFill/>
          <a:ln w="101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7125" tIns="97125" rIns="97125" bIns="97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87">
              <a:solidFill>
                <a:srgbClr val="CC0000"/>
              </a:solidFill>
              <a:highlight>
                <a:srgbClr val="1155CC"/>
              </a:highlight>
            </a:endParaRPr>
          </a:p>
        </p:txBody>
      </p:sp>
      <p:sp>
        <p:nvSpPr>
          <p:cNvPr id="436" name="Google Shape;436;p52"/>
          <p:cNvSpPr txBox="1"/>
          <p:nvPr/>
        </p:nvSpPr>
        <p:spPr>
          <a:xfrm>
            <a:off x="3063803" y="3535275"/>
            <a:ext cx="5895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Find     by non-negative least squares, i.e., minimizing residual:</a:t>
            </a:r>
            <a:endParaRPr/>
          </a:p>
        </p:txBody>
      </p:sp>
      <p:sp>
        <p:nvSpPr>
          <p:cNvPr id="437" name="Google Shape;437;p52"/>
          <p:cNvSpPr txBox="1"/>
          <p:nvPr/>
        </p:nvSpPr>
        <p:spPr>
          <a:xfrm>
            <a:off x="3091875" y="3943519"/>
            <a:ext cx="606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Digging: 3.9 kW; Loading: 16.0 kW; Swinging: 0.6 kW; Traveling: 7.5 kW; Idling: 0 kW</a:t>
            </a:r>
            <a:endParaRPr sz="13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52" title="{&quot;red&quot;:24,&quot;green&quot;:43,&quot;blue&quot;:72,&quot;origURL&quot;:&quot;https://www.codecogs.com/eqnedit.php?latex=x#0&quot;,&quot;size&quot;:14,&quot;width&quot;:464.244094488189,&quot;height&quot;:29.078740157480315}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6863" y="3706952"/>
            <a:ext cx="97346" cy="89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2" title="{&quot;red&quot;:24,&quot;green&quot;:43,&quot;blue&quot;:72,&quot;origURL&quot;:&quot;https://www.codecogs.com/eqnedit.php?latex=%7C%7CAx-b%7C%7C%5E2_%7B2%7D#0&quot;,&quot;size&quot;:12,&quot;width&quot;:464.24409448818886,&quot;height&quot;:29.078740157480315}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17449" y="3657334"/>
            <a:ext cx="723519" cy="1885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0" name="Google Shape;440;p52"/>
          <p:cNvCxnSpPr/>
          <p:nvPr/>
        </p:nvCxnSpPr>
        <p:spPr>
          <a:xfrm rot="10800000">
            <a:off x="2512875" y="1102875"/>
            <a:ext cx="880500" cy="168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1" name="Google Shape;441;p52"/>
          <p:cNvCxnSpPr/>
          <p:nvPr/>
        </p:nvCxnSpPr>
        <p:spPr>
          <a:xfrm flipH="1">
            <a:off x="2533875" y="2792175"/>
            <a:ext cx="859500" cy="46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42" name="Google Shape;442;p52"/>
          <p:cNvSpPr txBox="1"/>
          <p:nvPr/>
        </p:nvSpPr>
        <p:spPr>
          <a:xfrm>
            <a:off x="3302950" y="2609025"/>
            <a:ext cx="1051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SOC change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3"/>
          <p:cNvSpPr txBox="1">
            <a:spLocks noGrp="1"/>
          </p:cNvSpPr>
          <p:nvPr>
            <p:ph type="title"/>
          </p:nvPr>
        </p:nvSpPr>
        <p:spPr>
          <a:xfrm>
            <a:off x="391675" y="1891847"/>
            <a:ext cx="85206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Task 5: MCS-To-Grid Optimization and Demonstration During Emergency Situations</a:t>
            </a:r>
            <a:endParaRPr sz="2600" b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5 Objectives</a:t>
            </a:r>
            <a:endParaRPr/>
          </a:p>
        </p:txBody>
      </p:sp>
      <p:sp>
        <p:nvSpPr>
          <p:cNvPr id="453" name="Google Shape;453;p54"/>
          <p:cNvSpPr txBox="1"/>
          <p:nvPr/>
        </p:nvSpPr>
        <p:spPr>
          <a:xfrm>
            <a:off x="311700" y="888350"/>
            <a:ext cx="5485200" cy="3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>
                <a:solidFill>
                  <a:srgbClr val="595959"/>
                </a:solidFill>
              </a:rPr>
              <a:t>Battery-to-building application</a:t>
            </a:r>
            <a:r>
              <a:rPr lang="en" sz="2000">
                <a:solidFill>
                  <a:srgbClr val="595959"/>
                </a:solidFill>
              </a:rPr>
              <a:t>: examine potential benefits of mobile charging stations (MCS) for emergency situations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Produce a Brief of operating strategies of MCSs for emergency building services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Expected Learnings</a:t>
            </a:r>
            <a:endParaRPr sz="2000">
              <a:solidFill>
                <a:schemeClr val="dk2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Building electrical connections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Controls integration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Performance limitations</a:t>
            </a:r>
            <a:endParaRPr sz="1800">
              <a:solidFill>
                <a:schemeClr val="dk2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</a:pPr>
            <a:r>
              <a:rPr lang="en" sz="1800">
                <a:solidFill>
                  <a:schemeClr val="dk2"/>
                </a:solidFill>
              </a:rPr>
              <a:t>Operational lessons</a:t>
            </a:r>
            <a:endParaRPr sz="2200">
              <a:solidFill>
                <a:srgbClr val="595959"/>
              </a:solidFill>
            </a:endParaRPr>
          </a:p>
        </p:txBody>
      </p:sp>
      <p:pic>
        <p:nvPicPr>
          <p:cNvPr id="454" name="Google Shape;454;p54" title="PXL_20250916_17385847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700" y="1181282"/>
            <a:ext cx="3142600" cy="236616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DERConnect Testbed</a:t>
            </a:r>
            <a:endParaRPr/>
          </a:p>
        </p:txBody>
      </p:sp>
      <p:sp>
        <p:nvSpPr>
          <p:cNvPr id="460" name="Google Shape;460;p55"/>
          <p:cNvSpPr txBox="1"/>
          <p:nvPr/>
        </p:nvSpPr>
        <p:spPr>
          <a:xfrm>
            <a:off x="0" y="747414"/>
            <a:ext cx="4212300" cy="3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Mobile batteries</a:t>
            </a:r>
            <a:endParaRPr sz="2000">
              <a:solidFill>
                <a:srgbClr val="59595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Different inputs/outputs</a:t>
            </a:r>
            <a:endParaRPr sz="1600">
              <a:solidFill>
                <a:srgbClr val="59595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Mana power, Moxion, CleanGen</a:t>
            </a:r>
            <a:endParaRPr sz="16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Level 2 EV charger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Tap boxes</a:t>
            </a:r>
            <a:endParaRPr sz="2000">
              <a:solidFill>
                <a:srgbClr val="59595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480V &amp; 208V</a:t>
            </a:r>
            <a:endParaRPr sz="1600">
              <a:solidFill>
                <a:srgbClr val="595959"/>
              </a:solidFill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Char char="○"/>
            </a:pPr>
            <a:r>
              <a:rPr lang="en" sz="1600">
                <a:solidFill>
                  <a:srgbClr val="595959"/>
                </a:solidFill>
              </a:rPr>
              <a:t>Camlock</a:t>
            </a:r>
            <a:endParaRPr sz="16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RLC programmable load bank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Real building load profile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Grid emulator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Phasor and Waveform Data</a:t>
            </a:r>
            <a:endParaRPr sz="2000">
              <a:solidFill>
                <a:srgbClr val="595959"/>
              </a:solidFill>
            </a:endParaRPr>
          </a:p>
        </p:txBody>
      </p:sp>
      <p:pic>
        <p:nvPicPr>
          <p:cNvPr id="461" name="Google Shape;461;p55" title="PXL_20250915_232837169.jpg"/>
          <p:cNvPicPr preferRelativeResize="0"/>
          <p:nvPr/>
        </p:nvPicPr>
        <p:blipFill rotWithShape="1">
          <a:blip r:embed="rId3">
            <a:alphaModFix/>
          </a:blip>
          <a:srcRect t="26061" b="20095"/>
          <a:stretch/>
        </p:blipFill>
        <p:spPr>
          <a:xfrm>
            <a:off x="6005375" y="1200228"/>
            <a:ext cx="3047526" cy="12355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2" name="Google Shape;462;p55" title="PXL_20250917_1414201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875" y="3458250"/>
            <a:ext cx="1570550" cy="118252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63" name="Google Shape;463;p55" title="PXL_20250509_180149202.jpg"/>
          <p:cNvPicPr preferRelativeResize="0"/>
          <p:nvPr/>
        </p:nvPicPr>
        <p:blipFill rotWithShape="1">
          <a:blip r:embed="rId5">
            <a:alphaModFix/>
          </a:blip>
          <a:srcRect l="8723" r="7321" b="15211"/>
          <a:stretch/>
        </p:blipFill>
        <p:spPr>
          <a:xfrm>
            <a:off x="4285851" y="1951638"/>
            <a:ext cx="1570560" cy="1194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5" title="20241017_162200.jpg"/>
          <p:cNvPicPr preferRelativeResize="0"/>
          <p:nvPr/>
        </p:nvPicPr>
        <p:blipFill rotWithShape="1">
          <a:blip r:embed="rId6">
            <a:alphaModFix/>
          </a:blip>
          <a:srcRect l="37785" t="21364" r="10666" b="27550"/>
          <a:stretch/>
        </p:blipFill>
        <p:spPr>
          <a:xfrm>
            <a:off x="4267700" y="445025"/>
            <a:ext cx="1606876" cy="119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5375" y="2667225"/>
            <a:ext cx="3047524" cy="16930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Seamless Grid-to-BESS-to-Grid</a:t>
            </a:r>
            <a:endParaRPr/>
          </a:p>
        </p:txBody>
      </p:sp>
      <p:sp>
        <p:nvSpPr>
          <p:cNvPr id="471" name="Google Shape;471;p56"/>
          <p:cNvSpPr txBox="1"/>
          <p:nvPr/>
        </p:nvSpPr>
        <p:spPr>
          <a:xfrm>
            <a:off x="201744" y="1013461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95959"/>
                </a:solidFill>
              </a:rPr>
              <a:t>Scenario: </a:t>
            </a:r>
            <a:endParaRPr sz="19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Building w/ backup battery instead of generator</a:t>
            </a:r>
            <a:endParaRPr sz="17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BESS w/ daisy-chain capability for extended outage</a:t>
            </a:r>
            <a:endParaRPr sz="17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3 hr response time for MCS</a:t>
            </a:r>
            <a:endParaRPr sz="1700">
              <a:solidFill>
                <a:srgbClr val="595959"/>
              </a:solidFill>
            </a:endParaRPr>
          </a:p>
        </p:txBody>
      </p:sp>
      <p:pic>
        <p:nvPicPr>
          <p:cNvPr id="472" name="Google Shape;472;p56" title="PXL_20250509_180149202.jpg"/>
          <p:cNvPicPr preferRelativeResize="0"/>
          <p:nvPr/>
        </p:nvPicPr>
        <p:blipFill rotWithShape="1">
          <a:blip r:embed="rId3">
            <a:alphaModFix/>
          </a:blip>
          <a:srcRect l="8723" r="7321" b="15211"/>
          <a:stretch/>
        </p:blipFill>
        <p:spPr>
          <a:xfrm>
            <a:off x="5828300" y="3398514"/>
            <a:ext cx="1182525" cy="89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6" title="PXL_20250917_14142014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463" y="108025"/>
            <a:ext cx="1278177" cy="9623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74" name="Google Shape;474;p56"/>
          <p:cNvPicPr preferRelativeResize="0"/>
          <p:nvPr/>
        </p:nvPicPr>
        <p:blipFill rotWithShape="1">
          <a:blip r:embed="rId5">
            <a:alphaModFix/>
          </a:blip>
          <a:srcRect t="8439" b="10181"/>
          <a:stretch/>
        </p:blipFill>
        <p:spPr>
          <a:xfrm>
            <a:off x="5828300" y="1612650"/>
            <a:ext cx="1182525" cy="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70650" y="1191575"/>
            <a:ext cx="1182525" cy="11824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56"/>
          <p:cNvCxnSpPr>
            <a:stCxn id="473" idx="2"/>
            <a:endCxn id="474" idx="0"/>
          </p:cNvCxnSpPr>
          <p:nvPr/>
        </p:nvCxnSpPr>
        <p:spPr>
          <a:xfrm>
            <a:off x="6419551" y="1070399"/>
            <a:ext cx="0" cy="5424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7" name="Google Shape;477;p56"/>
          <p:cNvCxnSpPr>
            <a:stCxn id="474" idx="2"/>
            <a:endCxn id="472" idx="0"/>
          </p:cNvCxnSpPr>
          <p:nvPr/>
        </p:nvCxnSpPr>
        <p:spPr>
          <a:xfrm>
            <a:off x="6419562" y="2575025"/>
            <a:ext cx="0" cy="823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8" name="Google Shape;478;p56"/>
          <p:cNvCxnSpPr>
            <a:stCxn id="475" idx="1"/>
            <a:endCxn id="474" idx="3"/>
          </p:cNvCxnSpPr>
          <p:nvPr/>
        </p:nvCxnSpPr>
        <p:spPr>
          <a:xfrm flipH="1">
            <a:off x="7010850" y="1782824"/>
            <a:ext cx="859800" cy="3111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dot"/>
            <a:round/>
            <a:headEnd type="none" w="med" len="med"/>
            <a:tailEnd type="triangle" w="med" len="med"/>
          </a:ln>
        </p:spPr>
      </p:cxnSp>
      <p:sp>
        <p:nvSpPr>
          <p:cNvPr id="479" name="Google Shape;479;p56"/>
          <p:cNvSpPr txBox="1"/>
          <p:nvPr/>
        </p:nvSpPr>
        <p:spPr>
          <a:xfrm>
            <a:off x="7117475" y="108025"/>
            <a:ext cx="1182600" cy="6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Emulated Grid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0" name="Google Shape;480;p56"/>
          <p:cNvSpPr txBox="1"/>
          <p:nvPr/>
        </p:nvSpPr>
        <p:spPr>
          <a:xfrm>
            <a:off x="4770812" y="1706875"/>
            <a:ext cx="1029900" cy="10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J250 w/ pass through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1" name="Google Shape;481;p56"/>
          <p:cNvSpPr txBox="1"/>
          <p:nvPr/>
        </p:nvSpPr>
        <p:spPr>
          <a:xfrm>
            <a:off x="8023225" y="2182550"/>
            <a:ext cx="10299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Second J250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82" name="Google Shape;482;p56"/>
          <p:cNvSpPr txBox="1"/>
          <p:nvPr/>
        </p:nvSpPr>
        <p:spPr>
          <a:xfrm>
            <a:off x="7193825" y="3436375"/>
            <a:ext cx="1029900" cy="8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Building load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Seamless Grid-to-BESS-to-Grid</a:t>
            </a:r>
            <a:endParaRPr/>
          </a:p>
        </p:txBody>
      </p:sp>
      <p:sp>
        <p:nvSpPr>
          <p:cNvPr id="488" name="Google Shape;488;p57"/>
          <p:cNvSpPr txBox="1"/>
          <p:nvPr/>
        </p:nvSpPr>
        <p:spPr>
          <a:xfrm>
            <a:off x="0" y="610320"/>
            <a:ext cx="4462200" cy="39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95959"/>
                </a:solidFill>
              </a:rPr>
              <a:t>Scenario: </a:t>
            </a:r>
            <a:endParaRPr sz="19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595959"/>
                </a:solidFill>
              </a:rPr>
              <a:t>Results</a:t>
            </a:r>
            <a:endParaRPr sz="1700" b="1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Seamless transition from and back to grid power</a:t>
            </a:r>
            <a:endParaRPr sz="17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Ran successfully for 8 hr long load profile (emulate working hours)</a:t>
            </a:r>
            <a:endParaRPr sz="17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Seamless transition to and from daisy-chain power</a:t>
            </a:r>
            <a:endParaRPr sz="17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595959"/>
                </a:solidFill>
              </a:rPr>
              <a:t>Limitations</a:t>
            </a:r>
            <a:endParaRPr sz="1700" b="1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MCS not able to do grid-following</a:t>
            </a:r>
            <a:endParaRPr sz="1700">
              <a:solidFill>
                <a:srgbClr val="595959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00"/>
              <a:buChar char="●"/>
            </a:pPr>
            <a:r>
              <a:rPr lang="en" sz="1700">
                <a:solidFill>
                  <a:srgbClr val="595959"/>
                </a:solidFill>
              </a:rPr>
              <a:t>Requires automatic transfer switch or daisy-chain/pass-through feature</a:t>
            </a:r>
            <a:endParaRPr sz="1700">
              <a:solidFill>
                <a:srgbClr val="595959"/>
              </a:solidFill>
            </a:endParaRPr>
          </a:p>
        </p:txBody>
      </p:sp>
      <p:pic>
        <p:nvPicPr>
          <p:cNvPr id="489" name="Google Shape;489;p57" title="screenshot_test_3a_grid_outage.png"/>
          <p:cNvPicPr preferRelativeResize="0"/>
          <p:nvPr/>
        </p:nvPicPr>
        <p:blipFill rotWithShape="1">
          <a:blip r:embed="rId3">
            <a:alphaModFix/>
          </a:blip>
          <a:srcRect l="3524" t="3745" r="33205" b="62521"/>
          <a:stretch/>
        </p:blipFill>
        <p:spPr>
          <a:xfrm>
            <a:off x="4456400" y="875605"/>
            <a:ext cx="4591601" cy="1388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90" name="Google Shape;490;p57" title="screenshot_test_3a_grid_outage_freq.png"/>
          <p:cNvPicPr preferRelativeResize="0"/>
          <p:nvPr/>
        </p:nvPicPr>
        <p:blipFill rotWithShape="1">
          <a:blip r:embed="rId4">
            <a:alphaModFix/>
          </a:blip>
          <a:srcRect l="15287" t="41420" r="22291" b="17789"/>
          <a:stretch/>
        </p:blipFill>
        <p:spPr>
          <a:xfrm>
            <a:off x="4456400" y="2836461"/>
            <a:ext cx="4591602" cy="170681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91" name="Google Shape;491;p57"/>
          <p:cNvSpPr txBox="1"/>
          <p:nvPr/>
        </p:nvSpPr>
        <p:spPr>
          <a:xfrm>
            <a:off x="5702650" y="413900"/>
            <a:ext cx="2099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Current Magnitude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2" name="Google Shape;492;p57"/>
          <p:cNvSpPr txBox="1"/>
          <p:nvPr/>
        </p:nvSpPr>
        <p:spPr>
          <a:xfrm>
            <a:off x="6049900" y="2374749"/>
            <a:ext cx="1404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Frequency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3" name="Google Shape;493;p57"/>
          <p:cNvSpPr txBox="1"/>
          <p:nvPr/>
        </p:nvSpPr>
        <p:spPr>
          <a:xfrm>
            <a:off x="4462050" y="3239025"/>
            <a:ext cx="98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60Hz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494" name="Google Shape;494;p57"/>
          <p:cNvSpPr/>
          <p:nvPr/>
        </p:nvSpPr>
        <p:spPr>
          <a:xfrm>
            <a:off x="6561450" y="3461425"/>
            <a:ext cx="834000" cy="834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57"/>
          <p:cNvSpPr/>
          <p:nvPr/>
        </p:nvSpPr>
        <p:spPr>
          <a:xfrm>
            <a:off x="5824150" y="1152600"/>
            <a:ext cx="834000" cy="834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10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Performance</a:t>
            </a:r>
            <a:endParaRPr>
              <a:solidFill>
                <a:srgbClr val="182B4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Characterization</a:t>
            </a:r>
            <a:endParaRPr/>
          </a:p>
        </p:txBody>
      </p:sp>
      <p:sp>
        <p:nvSpPr>
          <p:cNvPr id="501" name="Google Shape;501;p58"/>
          <p:cNvSpPr txBox="1">
            <a:spLocks noGrp="1"/>
          </p:cNvSpPr>
          <p:nvPr>
            <p:ph type="body" idx="1"/>
          </p:nvPr>
        </p:nvSpPr>
        <p:spPr>
          <a:xfrm>
            <a:off x="0" y="1362325"/>
            <a:ext cx="28128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Different power factors</a:t>
            </a:r>
            <a:endParaRPr sz="2400">
              <a:solidFill>
                <a:schemeClr val="dk2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High inductive loads (HVAC)</a:t>
            </a:r>
            <a:endParaRPr sz="2400">
              <a:solidFill>
                <a:schemeClr val="dk2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</a:pPr>
            <a:r>
              <a:rPr lang="en" sz="2400">
                <a:solidFill>
                  <a:schemeClr val="dk2"/>
                </a:solidFill>
              </a:rPr>
              <a:t>Harmonics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502" name="Google Shape;502;p58" title="harmonics_study_current_time_variation_9B.png"/>
          <p:cNvPicPr preferRelativeResize="0"/>
          <p:nvPr/>
        </p:nvPicPr>
        <p:blipFill rotWithShape="1">
          <a:blip r:embed="rId3">
            <a:alphaModFix/>
          </a:blip>
          <a:srcRect b="18917"/>
          <a:stretch/>
        </p:blipFill>
        <p:spPr>
          <a:xfrm>
            <a:off x="2812800" y="0"/>
            <a:ext cx="6331203" cy="449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10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Performance</a:t>
            </a:r>
            <a:endParaRPr>
              <a:solidFill>
                <a:srgbClr val="182B4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Characterization</a:t>
            </a:r>
            <a:endParaRPr/>
          </a:p>
        </p:txBody>
      </p:sp>
      <p:sp>
        <p:nvSpPr>
          <p:cNvPr id="508" name="Google Shape;508;p59"/>
          <p:cNvSpPr txBox="1">
            <a:spLocks noGrp="1"/>
          </p:cNvSpPr>
          <p:nvPr>
            <p:ph type="body" idx="1"/>
          </p:nvPr>
        </p:nvSpPr>
        <p:spPr>
          <a:xfrm>
            <a:off x="0" y="1362325"/>
            <a:ext cx="2812800" cy="32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/>
          </a:bodyPr>
          <a:lstStyle/>
          <a:p>
            <a:pPr marL="457200" lvl="0" indent="-34671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2400">
                <a:solidFill>
                  <a:schemeClr val="dk2"/>
                </a:solidFill>
              </a:rPr>
              <a:t>Moxion &amp; CleanGen successfully passed the performance stress tests</a:t>
            </a:r>
            <a:endParaRPr sz="2400">
              <a:solidFill>
                <a:schemeClr val="dk2"/>
              </a:solidFill>
            </a:endParaRPr>
          </a:p>
          <a:p>
            <a:pPr marL="457200" lvl="0" indent="-34671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en" sz="2400">
                <a:solidFill>
                  <a:schemeClr val="dk2"/>
                </a:solidFill>
              </a:rPr>
              <a:t>Moxion successful in maintaining voltage harmonics below IEEE 519 limit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509" name="Google Shape;509;p59" title="harmonics_study_voltage_time_variation_9B.png"/>
          <p:cNvPicPr preferRelativeResize="0"/>
          <p:nvPr/>
        </p:nvPicPr>
        <p:blipFill rotWithShape="1">
          <a:blip r:embed="rId3">
            <a:alphaModFix/>
          </a:blip>
          <a:srcRect b="18950"/>
          <a:stretch/>
        </p:blipFill>
        <p:spPr>
          <a:xfrm>
            <a:off x="2812800" y="0"/>
            <a:ext cx="6331203" cy="4490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BESS-to-BESS</a:t>
            </a:r>
            <a:endParaRPr/>
          </a:p>
        </p:txBody>
      </p:sp>
      <p:sp>
        <p:nvSpPr>
          <p:cNvPr id="515" name="Google Shape;515;p60"/>
          <p:cNvSpPr txBox="1"/>
          <p:nvPr/>
        </p:nvSpPr>
        <p:spPr>
          <a:xfrm>
            <a:off x="311700" y="971750"/>
            <a:ext cx="4013400" cy="3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595959"/>
                </a:solidFill>
              </a:rPr>
              <a:t>Scenario: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Building commissioning (e.g. switchgear before real loads)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Uninterruptible power supply - charge while delivering power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Flexibility for energy delivery</a:t>
            </a:r>
            <a:endParaRPr sz="2000">
              <a:solidFill>
                <a:srgbClr val="595959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Char char="●"/>
            </a:pPr>
            <a:r>
              <a:rPr lang="en" sz="2000">
                <a:solidFill>
                  <a:srgbClr val="595959"/>
                </a:solidFill>
              </a:rPr>
              <a:t>Generally successful, but with performance and operational limitations</a:t>
            </a:r>
            <a:endParaRPr sz="2000">
              <a:solidFill>
                <a:srgbClr val="595959"/>
              </a:solidFill>
            </a:endParaRPr>
          </a:p>
        </p:txBody>
      </p:sp>
      <p:pic>
        <p:nvPicPr>
          <p:cNvPr id="516" name="Google Shape;516;p60" title="PXL_20250919_18353559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500" y="879451"/>
            <a:ext cx="4514099" cy="339879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2B49"/>
                </a:solidFill>
              </a:rPr>
              <a:t>Operational Lessons</a:t>
            </a:r>
            <a:endParaRPr/>
          </a:p>
        </p:txBody>
      </p:sp>
      <p:sp>
        <p:nvSpPr>
          <p:cNvPr id="522" name="Google Shape;522;p61"/>
          <p:cNvSpPr txBox="1"/>
          <p:nvPr/>
        </p:nvSpPr>
        <p:spPr>
          <a:xfrm>
            <a:off x="311700" y="916152"/>
            <a:ext cx="8520600" cy="3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AutoNum type="arabicPeriod"/>
            </a:pPr>
            <a:r>
              <a:rPr lang="en" sz="2300">
                <a:solidFill>
                  <a:srgbClr val="595959"/>
                </a:solidFill>
              </a:rPr>
              <a:t>Camlock adapters needed: film industry uses reverse ground</a:t>
            </a:r>
            <a:endParaRPr sz="2300">
              <a:solidFill>
                <a:srgbClr val="595959"/>
              </a:solidFill>
            </a:endParaRPr>
          </a:p>
          <a:p>
            <a:pPr marL="457200" lvl="0" indent="-3746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AutoNum type="arabicPeriod"/>
            </a:pPr>
            <a:r>
              <a:rPr lang="en" sz="2300">
                <a:solidFill>
                  <a:srgbClr val="595959"/>
                </a:solidFill>
              </a:rPr>
              <a:t>Reliability issues with L2D2 EV charger adapter</a:t>
            </a:r>
            <a:endParaRPr sz="2300">
              <a:solidFill>
                <a:srgbClr val="595959"/>
              </a:solidFill>
            </a:endParaRPr>
          </a:p>
          <a:p>
            <a:pPr marL="457200" lvl="0" indent="-3746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AutoNum type="arabicPeriod"/>
            </a:pPr>
            <a:r>
              <a:rPr lang="en" sz="2300">
                <a:solidFill>
                  <a:srgbClr val="595959"/>
                </a:solidFill>
              </a:rPr>
              <a:t>Compatibility issues with the L2 chargers inside the Mana Power to charge other BESS. Tried different combinations of charging between BESS units.</a:t>
            </a:r>
            <a:endParaRPr sz="2300">
              <a:solidFill>
                <a:srgbClr val="595959"/>
              </a:solidFill>
            </a:endParaRPr>
          </a:p>
          <a:p>
            <a:pPr marL="457200" lvl="0" indent="-3746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AutoNum type="arabicPeriod"/>
            </a:pPr>
            <a:r>
              <a:rPr lang="en" sz="2300">
                <a:solidFill>
                  <a:srgbClr val="595959"/>
                </a:solidFill>
              </a:rPr>
              <a:t>Unexpected slow charging using L2D2 with Mana</a:t>
            </a:r>
            <a:endParaRPr sz="2300">
              <a:solidFill>
                <a:srgbClr val="595959"/>
              </a:solidFill>
            </a:endParaRPr>
          </a:p>
          <a:p>
            <a:pPr marL="457200" lvl="0" indent="-3746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00"/>
              <a:buAutoNum type="arabicPeriod"/>
            </a:pPr>
            <a:r>
              <a:rPr lang="en" sz="2300">
                <a:solidFill>
                  <a:srgbClr val="595959"/>
                </a:solidFill>
              </a:rPr>
              <a:t>AC Isolation faults w/ Moxion - potential grounding issues when working with building equipment</a:t>
            </a:r>
            <a:endParaRPr sz="23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>
            <a:spLocks noGrp="1"/>
          </p:cNvSpPr>
          <p:nvPr>
            <p:ph type="title"/>
          </p:nvPr>
        </p:nvSpPr>
        <p:spPr>
          <a:xfrm>
            <a:off x="391675" y="1972000"/>
            <a:ext cx="85206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Challenges and Lessons Learned </a:t>
            </a:r>
            <a:endParaRPr sz="2600"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3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&amp; </a:t>
            </a:r>
            <a:r>
              <a:rPr lang="en">
                <a:solidFill>
                  <a:srgbClr val="0000FF"/>
                </a:solidFill>
              </a:rPr>
              <a:t>SOLUTIONS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533" name="Google Shape;533;p63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Hard to communicate with construction crew: </a:t>
            </a:r>
            <a:r>
              <a:rPr lang="en">
                <a:solidFill>
                  <a:srgbClr val="0000FF"/>
                </a:solidFill>
              </a:rPr>
              <a:t>Communicate with GC about the possibility of interacting with a site manager more frequently </a:t>
            </a:r>
            <a:endParaRPr/>
          </a:p>
          <a:p>
            <a:pPr marL="457200" lvl="0" indent="-334327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clear construction schedule available a-priori to plan videography: </a:t>
            </a:r>
            <a:r>
              <a:rPr lang="en">
                <a:solidFill>
                  <a:srgbClr val="0000FF"/>
                </a:solidFill>
              </a:rPr>
              <a:t>Communicate with GC about the need for a schedule before next phase of construction</a:t>
            </a:r>
            <a:endParaRPr>
              <a:solidFill>
                <a:srgbClr val="0000FF"/>
              </a:solidFill>
            </a:endParaRPr>
          </a:p>
          <a:p>
            <a:pPr marL="457200" lvl="0" indent="-334327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Telematics aren’t uniformly granular and may often be unreliable: </a:t>
            </a:r>
            <a:r>
              <a:rPr lang="en">
                <a:solidFill>
                  <a:srgbClr val="0000FF"/>
                </a:solidFill>
              </a:rPr>
              <a:t>Collect more data during the other phases of construction</a:t>
            </a:r>
            <a:endParaRPr>
              <a:solidFill>
                <a:srgbClr val="0000FF"/>
              </a:solidFill>
            </a:endParaRPr>
          </a:p>
          <a:p>
            <a:pPr marL="457200" lvl="0" indent="-334327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No open source ML based automated subactivity identification model available: </a:t>
            </a:r>
            <a:r>
              <a:rPr lang="en">
                <a:solidFill>
                  <a:srgbClr val="0000FF"/>
                </a:solidFill>
              </a:rPr>
              <a:t>Continue building our CNN based model</a:t>
            </a:r>
            <a:endParaRPr>
              <a:solidFill>
                <a:srgbClr val="0000FF"/>
              </a:solidFill>
            </a:endParaRPr>
          </a:p>
          <a:p>
            <a:pPr marL="457200" lvl="0" indent="-334327" algn="l" rtl="0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Construction teams have limited experience with CEVs and (sometimes incorrect) preconceived notions. </a:t>
            </a:r>
            <a:r>
              <a:rPr lang="en">
                <a:solidFill>
                  <a:srgbClr val="0000FF"/>
                </a:solidFill>
              </a:rPr>
              <a:t>Proactive education and planning.</a:t>
            </a:r>
            <a:r>
              <a:rPr lang="en"/>
              <a:t> </a:t>
            </a:r>
            <a:endParaRPr>
              <a:solidFill>
                <a:srgbClr val="0000FF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4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 - Data and Modeling</a:t>
            </a:r>
            <a:endParaRPr/>
          </a:p>
        </p:txBody>
      </p:sp>
      <p:sp>
        <p:nvSpPr>
          <p:cNvPr id="539" name="Google Shape;539;p64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0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5725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Manual labeling of construction videos very time consuming</a:t>
            </a:r>
            <a:endParaRPr sz="1600"/>
          </a:p>
          <a:p>
            <a:pPr marL="857250" lvl="0" indent="-330200" algn="l" rtl="0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1600"/>
              <a:t>Accuracy of ML models in automated subactivity identification from construction videos is moderate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LEARNED- Demonstration</a:t>
            </a:r>
            <a:endParaRPr/>
          </a:p>
        </p:txBody>
      </p:sp>
      <p:sp>
        <p:nvSpPr>
          <p:cNvPr id="545" name="Google Shape;545;p65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Planning and preparation is key for a smooth demonstration</a:t>
            </a:r>
            <a:endParaRPr sz="220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equipment vendor to service electric equipment before delivery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 with GC to determine best location of MCS on construction site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equipment delivered and set up before construction starts to ensure </a:t>
            </a:r>
            <a:endParaRPr/>
          </a:p>
          <a:p>
            <a:pPr marL="85725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equipment works</a:t>
            </a:r>
            <a:endParaRPr sz="1600"/>
          </a:p>
          <a:p>
            <a:pPr marL="85725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operators know how to use equipment</a:t>
            </a:r>
            <a:endParaRPr sz="1600"/>
          </a:p>
          <a:p>
            <a:pPr marL="85725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charging cables have the correct adaptors </a:t>
            </a:r>
            <a:endParaRPr sz="1600"/>
          </a:p>
          <a:p>
            <a:pPr marL="85725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fast charging is an option from day 1</a:t>
            </a:r>
            <a:endParaRPr sz="16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6"/>
          <p:cNvSpPr txBox="1">
            <a:spLocks noGrp="1"/>
          </p:cNvSpPr>
          <p:nvPr>
            <p:ph type="title"/>
          </p:nvPr>
        </p:nvSpPr>
        <p:spPr>
          <a:xfrm>
            <a:off x="391675" y="1972000"/>
            <a:ext cx="85206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Administrative Items </a:t>
            </a:r>
            <a:endParaRPr sz="26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</a:t>
            </a:r>
            <a:endParaRPr/>
          </a:p>
        </p:txBody>
      </p:sp>
      <p:graphicFrame>
        <p:nvGraphicFramePr>
          <p:cNvPr id="556" name="Google Shape;556;p67"/>
          <p:cNvGraphicFramePr/>
          <p:nvPr/>
        </p:nvGraphicFramePr>
        <p:xfrm>
          <a:off x="333250" y="757650"/>
          <a:ext cx="8477500" cy="4041980"/>
        </p:xfrm>
        <a:graphic>
          <a:graphicData uri="http://schemas.openxmlformats.org/drawingml/2006/table">
            <a:tbl>
              <a:tblPr>
                <a:noFill/>
                <a:tableStyleId>{ED1662DD-2B37-4CAD-9B8C-D0DF74527A46}</a:tableStyleId>
              </a:tblPr>
              <a:tblGrid>
                <a:gridCol w="44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4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Ahead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On-Schedule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Project Tasks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Optimization Framework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Installation, Data Analytics, and Modeling of MCSs and CEVs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MCS-To-CEV Testing and Demonstration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MCS-To-Grid Optimization and Demonstration During Emergency Situations  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Evaluation of Project Benefits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Technology/Knowledge Transfer Activities </a:t>
                      </a: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800"/>
                        </a:spcBef>
                        <a:spcAft>
                          <a:spcPts val="80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57" name="Google Shape;557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325" y="1213750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325" y="1594250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325" y="2014050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43325" y="2571750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300" y="3773825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5300" y="4240800"/>
            <a:ext cx="280525" cy="28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7" descr="Green check mark icon. Vector.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5250" y="3243225"/>
            <a:ext cx="280525" cy="28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569" name="Google Shape;569;p68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deliverable due so far has been submitted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early deliverables were late by 1 day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Remaining deliverables have been 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submitted on time or early.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70" name="Google Shape;57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400" y="1491025"/>
            <a:ext cx="3926151" cy="27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588" name="Google Shape;588;p71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Task 3: Installation, Data Analytics, and Modeling of MCSs and CEVs  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Continue working with Sunbelt Rentals for collecting a diverse range of telematics data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Continue working on the ML based automated construction subactivity identification model from videos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 the results from the ML model and telematics to better analyze power consumption of different subactivities 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 the learnings from the construction demos to better plan future constructions</a:t>
            </a:r>
            <a:endParaRPr sz="1200"/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/>
              <a:t>Task 4: MCS-To-CEV Testing and Demonstration 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2nd phase of RIMAC demonstration will begin August-Oct 2026</a:t>
            </a:r>
            <a:endParaRPr sz="1200"/>
          </a:p>
          <a:p>
            <a:pPr marL="457200" lvl="0" indent="-30480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Continuing to identify demonstration sites</a:t>
            </a:r>
            <a:endParaRPr sz="1200"/>
          </a:p>
          <a:p>
            <a:pPr marL="0" lvl="0" indent="0" algn="l" rtl="0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Task 5: MCS-To-Grid Optimization and Demonstration During Emergency Situations  </a:t>
            </a:r>
            <a:endParaRPr sz="1200"/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Record waveform data from CleanGen J250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Perform grid impact study from construction demonstrations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Complete best practices brief</a:t>
            </a:r>
            <a:endParaRPr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2"/>
          <p:cNvSpPr txBox="1">
            <a:spLocks noGrp="1"/>
          </p:cNvSpPr>
          <p:nvPr>
            <p:ph type="title"/>
          </p:nvPr>
        </p:nvSpPr>
        <p:spPr>
          <a:xfrm>
            <a:off x="391675" y="1972000"/>
            <a:ext cx="85206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Q &amp; A</a:t>
            </a:r>
            <a:endParaRPr sz="2600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3"/>
          <p:cNvSpPr txBox="1">
            <a:spLocks noGrp="1"/>
          </p:cNvSpPr>
          <p:nvPr>
            <p:ph type="title"/>
          </p:nvPr>
        </p:nvSpPr>
        <p:spPr>
          <a:xfrm>
            <a:off x="391675" y="1972000"/>
            <a:ext cx="8520600" cy="17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990"/>
              <a:buNone/>
            </a:pPr>
            <a:r>
              <a:rPr lang="en" sz="2600" b="1"/>
              <a:t>APPENDIX</a:t>
            </a:r>
            <a:endParaRPr sz="2600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4"/>
          <p:cNvSpPr txBox="1">
            <a:spLocks noGrp="1"/>
          </p:cNvSpPr>
          <p:nvPr>
            <p:ph type="title"/>
          </p:nvPr>
        </p:nvSpPr>
        <p:spPr>
          <a:xfrm>
            <a:off x="311700" y="1348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TECHNICAL SPECIFICATIONS OF CEV/MCS</a:t>
            </a:r>
            <a:endParaRPr/>
          </a:p>
        </p:txBody>
      </p:sp>
      <p:graphicFrame>
        <p:nvGraphicFramePr>
          <p:cNvPr id="604" name="Google Shape;604;p74"/>
          <p:cNvGraphicFramePr/>
          <p:nvPr/>
        </p:nvGraphicFramePr>
        <p:xfrm>
          <a:off x="255350" y="751075"/>
          <a:ext cx="8274375" cy="834750"/>
        </p:xfrm>
        <a:graphic>
          <a:graphicData uri="http://schemas.openxmlformats.org/drawingml/2006/table">
            <a:tbl>
              <a:tblPr>
                <a:noFill/>
                <a:tableStyleId>{E0A04F6C-3C15-4A04-A14E-88EC01F97B91}</a:tableStyleId>
              </a:tblPr>
              <a:tblGrid>
                <a:gridCol w="9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2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Name of the MCS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Battery energy capacity (kWh)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Charging and discharging efficiencies  (%)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Maximum charging/discharging power (kW)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Road energy consumption(kWh/mile)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Noise Level (dB)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Saniset J250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105/80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55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05" name="Google Shape;605;p74"/>
          <p:cNvGraphicFramePr/>
          <p:nvPr/>
        </p:nvGraphicFramePr>
        <p:xfrm>
          <a:off x="255363" y="1980550"/>
          <a:ext cx="8274350" cy="2560440"/>
        </p:xfrm>
        <a:graphic>
          <a:graphicData uri="http://schemas.openxmlformats.org/drawingml/2006/table">
            <a:tbl>
              <a:tblPr>
                <a:noFill/>
                <a:tableStyleId>{E0A04F6C-3C15-4A04-A14E-88EC01F97B91}</a:tableStyleId>
              </a:tblPr>
              <a:tblGrid>
                <a:gridCol w="250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2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CEV index and type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CEV 1: JCB mini excavator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CEV 2: JCB telescopic handler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CEV 3: Volvo compact excavator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CEV 4: Volvo electric wheel loader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Quantity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Maximum charging power (kW)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8.8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Battery energy capacity  (kWh)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19.8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45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Working capacity  (kW)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6.8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13.7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Site location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Total work requirement (kWh/day)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24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35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Noise level at operator Station (dB)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68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75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76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72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External noise level (dB)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87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93.6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80</a:t>
                      </a:r>
                      <a:endParaRPr sz="900"/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89</a:t>
                      </a:r>
                      <a:endParaRPr sz="900"/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611" name="Google Shape;611;p75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26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 b="1"/>
              <a:t>Charging and discharging power constraints of MCS and CEVs:</a:t>
            </a:r>
            <a:endParaRPr b="1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MCSs charge only at grid nodes, while CEVs charge only at construction sites</a:t>
            </a:r>
            <a:endParaRPr sz="1500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MCS and CEV charging/discharging power is limited</a:t>
            </a:r>
            <a:endParaRPr sz="1500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 MCS can charge at most 2 CEVs at the same time</a:t>
            </a:r>
            <a:endParaRPr sz="1500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CEV power use is limited by its work capacity</a:t>
            </a:r>
            <a:endParaRPr sz="1500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CEVs consume power only during working hours</a:t>
            </a:r>
            <a:endParaRPr sz="1500"/>
          </a:p>
          <a:p>
            <a:pPr marL="914400" lvl="0" indent="-323850" algn="l" rtl="0">
              <a:spcBef>
                <a:spcPts val="1000"/>
              </a:spcBef>
              <a:spcAft>
                <a:spcPts val="1000"/>
              </a:spcAft>
              <a:buSzPts val="1500"/>
              <a:buChar char="●"/>
            </a:pPr>
            <a:r>
              <a:rPr lang="en" sz="1500"/>
              <a:t>Missed work is the gap between the required CEV power and the actual power used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617" name="Google Shape;617;p76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2. 	Energy consumption and state of energy constraints of MCS and CEVs:</a:t>
            </a:r>
            <a:endParaRPr b="1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state of energy of MCSs changes with charging, discharging, and travel, accounting for efficiency losses</a:t>
            </a:r>
            <a:endParaRPr sz="1500"/>
          </a:p>
          <a:p>
            <a:pPr marL="9144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state of energy of CEVs changes based on their power consumption and charging</a:t>
            </a:r>
            <a:endParaRPr sz="1500"/>
          </a:p>
          <a:p>
            <a:pPr marL="9144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state of energy of both MCSs and CEVs must remain within minimum and maximum limits</a:t>
            </a:r>
            <a:endParaRPr sz="1500"/>
          </a:p>
          <a:p>
            <a:pPr marL="914400" lvl="0" indent="-323850" algn="l" rtl="0">
              <a:spcBef>
                <a:spcPts val="1200"/>
              </a:spcBef>
              <a:spcAft>
                <a:spcPts val="1200"/>
              </a:spcAft>
              <a:buSzPts val="1500"/>
              <a:buChar char="●"/>
            </a:pPr>
            <a:r>
              <a:rPr lang="en" sz="1500"/>
              <a:t>Over a day, MCSs and CEVs must end with the same state of energy with which they started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CONSTRAINTS</a:t>
            </a:r>
            <a:endParaRPr/>
          </a:p>
        </p:txBody>
      </p:sp>
      <p:sp>
        <p:nvSpPr>
          <p:cNvPr id="623" name="Google Shape;623;p77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85206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3. 	Spatial movement and connection status constraints of MCS:</a:t>
            </a:r>
            <a:endParaRPr b="1"/>
          </a:p>
          <a:p>
            <a:pPr marL="914400" lvl="0" indent="-323850" algn="l" rtl="0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An MCS cannot be at multiple nodes at the same time</a:t>
            </a:r>
            <a:endParaRPr sz="1500"/>
          </a:p>
          <a:p>
            <a:pPr marL="914400" lvl="0" indent="-323850" algn="l" rtl="0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Travel between nodes must take the required time based on distance and speed</a:t>
            </a:r>
            <a:endParaRPr sz="1500"/>
          </a:p>
          <a:p>
            <a:pPr marL="914400" lvl="0" indent="-323850" algn="l" rtl="0">
              <a:spcBef>
                <a:spcPts val="1200"/>
              </a:spcBef>
              <a:spcAft>
                <a:spcPts val="1200"/>
              </a:spcAft>
              <a:buSzPts val="1500"/>
              <a:buChar char="●"/>
            </a:pPr>
            <a:r>
              <a:rPr lang="en" sz="1500"/>
              <a:t>An MCS cannot arrive at and depart from the same node at the same time</a:t>
            </a:r>
            <a:endParaRPr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MCS-CEV Optimization Software AI Assistant</a:t>
            </a:r>
            <a:endParaRPr/>
          </a:p>
        </p:txBody>
      </p:sp>
      <p:sp>
        <p:nvSpPr>
          <p:cNvPr id="629" name="Google Shape;629;p78"/>
          <p:cNvSpPr txBox="1">
            <a:spLocks noGrp="1"/>
          </p:cNvSpPr>
          <p:nvPr>
            <p:ph type="body" idx="1"/>
          </p:nvPr>
        </p:nvSpPr>
        <p:spPr>
          <a:xfrm>
            <a:off x="311700" y="842975"/>
            <a:ext cx="4260300" cy="37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16650"/>
              <a:buFont typeface="Arial"/>
              <a:buNone/>
            </a:pPr>
            <a:r>
              <a:rPr lang="en" sz="2000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Our next step goal was to develop an AI co-pilot to support interaction between users and the MCS-CEV optimization web app to make our toolbox easier accessible to construction site operators:</a:t>
            </a:r>
            <a:endParaRPr sz="2000">
              <a:solidFill>
                <a:srgbClr val="182B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7025" algn="l" rtl="0">
              <a:spcBef>
                <a:spcPts val="1000"/>
              </a:spcBef>
              <a:spcAft>
                <a:spcPts val="0"/>
              </a:spcAft>
              <a:buClr>
                <a:srgbClr val="182B48"/>
              </a:buClr>
              <a:buSzPct val="100000"/>
              <a:buChar char="●"/>
            </a:pPr>
            <a:r>
              <a:rPr lang="en" sz="2000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AI agents interpret construction site charging demand and configure scenarios.</a:t>
            </a:r>
            <a:endParaRPr sz="2000">
              <a:solidFill>
                <a:srgbClr val="182B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7025" algn="l" rtl="0">
              <a:spcBef>
                <a:spcPts val="1000"/>
              </a:spcBef>
              <a:spcAft>
                <a:spcPts val="0"/>
              </a:spcAft>
              <a:buClr>
                <a:srgbClr val="182B48"/>
              </a:buClr>
              <a:buSzPct val="100000"/>
              <a:buChar char="●"/>
            </a:pPr>
            <a:r>
              <a:rPr lang="en" sz="2000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The system generates and explains optimized charging schedules.</a:t>
            </a:r>
            <a:endParaRPr sz="2000">
              <a:solidFill>
                <a:srgbClr val="182B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7025" algn="l" rtl="0">
              <a:spcBef>
                <a:spcPts val="1000"/>
              </a:spcBef>
              <a:spcAft>
                <a:spcPts val="0"/>
              </a:spcAft>
              <a:buClr>
                <a:srgbClr val="182B48"/>
              </a:buClr>
              <a:buSzPct val="100000"/>
              <a:buChar char="●"/>
            </a:pPr>
            <a:r>
              <a:rPr lang="en" sz="2000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The AI module integrates directly with the MCS-CEV web application.</a:t>
            </a:r>
            <a:endParaRPr sz="2000">
              <a:solidFill>
                <a:srgbClr val="182B4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30" name="Google Shape;630;p78" title="Demo2.mov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76303" y="842975"/>
            <a:ext cx="2344572" cy="3725999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78"/>
          <p:cNvSpPr txBox="1"/>
          <p:nvPr/>
        </p:nvSpPr>
        <p:spPr>
          <a:xfrm>
            <a:off x="7538350" y="3252100"/>
            <a:ext cx="1575600" cy="9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10000"/>
          </a:bodyPr>
          <a:lstStyle/>
          <a:p>
            <a:pPr marL="0" lvl="0" indent="0" algn="l" rtl="0">
              <a:spcBef>
                <a:spcPts val="1751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82B48"/>
                </a:solidFill>
                <a:latin typeface="Calibri"/>
                <a:ea typeface="Calibri"/>
                <a:cs typeface="Calibri"/>
                <a:sym typeface="Calibri"/>
              </a:rPr>
              <a:t>Demo video: AI co-pilot to be developed for assisting construction site with CEV charging and MCS recharging</a:t>
            </a:r>
            <a:endParaRPr sz="2000">
              <a:solidFill>
                <a:srgbClr val="182B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2605</Words>
  <Application>Microsoft Office PowerPoint</Application>
  <PresentationFormat>On-screen Show (16:9)</PresentationFormat>
  <Paragraphs>411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Simple Light</vt:lpstr>
      <vt:lpstr>Simple Light</vt:lpstr>
      <vt:lpstr>EPC-24-031 - Green Construct Charge (GCC): Grid-Supportive Mobile Charging Stations for the Electrification and Decarbonization of  Construction Electric Vehicles: CPR 1 meeting</vt:lpstr>
      <vt:lpstr>Agenda</vt:lpstr>
      <vt:lpstr>PROJECT GOAL</vt:lpstr>
      <vt:lpstr>BACKGROUND </vt:lpstr>
      <vt:lpstr>EXISTING CHARGING SOLUTIONS AND CHALLENGES</vt:lpstr>
      <vt:lpstr>INNOVATION: Mobile Charging Solution for CEVs</vt:lpstr>
      <vt:lpstr>KEY TECHNICAL TASKS FOR THE PROJECT  </vt:lpstr>
      <vt:lpstr>Task 2: Optimization framework for the MCS-CEV charging/discharging</vt:lpstr>
      <vt:lpstr>NETWORK TOPOLOGY</vt:lpstr>
      <vt:lpstr>NETWORK TOPOLOGY</vt:lpstr>
      <vt:lpstr>OPTIMIZATION FRAMEWORK</vt:lpstr>
      <vt:lpstr>OPTIMIZATION FORMULATION</vt:lpstr>
      <vt:lpstr>CASE STUDY: Operation Strategies</vt:lpstr>
      <vt:lpstr>CASE STUDY: Topology for the scenarios</vt:lpstr>
      <vt:lpstr>CASE STUDY: Input Data</vt:lpstr>
      <vt:lpstr>CASE STUDY: Results </vt:lpstr>
      <vt:lpstr>CASE STUDY: Other Results </vt:lpstr>
      <vt:lpstr>CASE STUDY: Timeseries of MCS/CEV charging </vt:lpstr>
      <vt:lpstr>MCS-CEV Optimization Software</vt:lpstr>
      <vt:lpstr>MCS-CEV Optimization Software</vt:lpstr>
      <vt:lpstr>Task 3: Installation, Data Analytics, and Modeling of MCSs and CEVs Task 4: MCS-CEV Testing and Demonstration</vt:lpstr>
      <vt:lpstr>DEMONSTRATION AT UCSD</vt:lpstr>
      <vt:lpstr>DATA ANALYTICS OF CEVs</vt:lpstr>
      <vt:lpstr>VIDEO ANALYSIS OF THE EXCAVATOR</vt:lpstr>
      <vt:lpstr>METHODOLOGY FOR SUBACTIVITY POWER CONSUMPTION</vt:lpstr>
      <vt:lpstr>Task 5: MCS-To-Grid Optimization and Demonstration During Emergency Situations</vt:lpstr>
      <vt:lpstr>Task 5 Objectives</vt:lpstr>
      <vt:lpstr>DERConnect Testbed</vt:lpstr>
      <vt:lpstr>Seamless Grid-to-BESS-to-Grid</vt:lpstr>
      <vt:lpstr>Seamless Grid-to-BESS-to-Grid</vt:lpstr>
      <vt:lpstr>Performance Characterization</vt:lpstr>
      <vt:lpstr>Performance Characterization</vt:lpstr>
      <vt:lpstr>BESS-to-BESS</vt:lpstr>
      <vt:lpstr>Operational Lessons</vt:lpstr>
      <vt:lpstr>Challenges and Lessons Learned </vt:lpstr>
      <vt:lpstr>CHALLENGES &amp; SOLUTIONS</vt:lpstr>
      <vt:lpstr>LESSONS LEARNED - Data and Modeling</vt:lpstr>
      <vt:lpstr>LESSONS LEARNED- Demonstration</vt:lpstr>
      <vt:lpstr>Administrative Items </vt:lpstr>
      <vt:lpstr>Schedule</vt:lpstr>
      <vt:lpstr>Deliverables</vt:lpstr>
      <vt:lpstr>Next Steps</vt:lpstr>
      <vt:lpstr>Q &amp; A</vt:lpstr>
      <vt:lpstr>APPENDIX</vt:lpstr>
      <vt:lpstr>TECHNICAL SPECIFICATIONS OF CEV/MCS</vt:lpstr>
      <vt:lpstr>CONSTRAINTS</vt:lpstr>
      <vt:lpstr>CONSTRAINTS</vt:lpstr>
      <vt:lpstr>CONSTRAINTS</vt:lpstr>
      <vt:lpstr>MCS-CEV Optimization Software AI Assistant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Shubhan Mital</cp:lastModifiedBy>
  <cp:revision>8</cp:revision>
  <dcterms:modified xsi:type="dcterms:W3CDTF">2026-04-01T01:54:47Z</dcterms:modified>
</cp:coreProperties>
</file>