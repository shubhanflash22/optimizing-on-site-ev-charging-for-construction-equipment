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1" r:id="rId7"/>
    <p:sldId id="267" r:id="rId8"/>
    <p:sldId id="262" r:id="rId9"/>
    <p:sldId id="268" r:id="rId10"/>
    <p:sldId id="269" r:id="rId11"/>
    <p:sldId id="270" r:id="rId12"/>
    <p:sldId id="259" r:id="rId13"/>
    <p:sldId id="263" r:id="rId14"/>
  </p:sldIdLst>
  <p:sldSz cx="18288000" cy="10287000"/>
  <p:notesSz cx="6858000" cy="9144000"/>
  <p:embeddedFontLst>
    <p:embeddedFont>
      <p:font typeface="Open Sans 1 Bold" panose="020B0604020202020204" charset="0"/>
      <p:regular r:id="rId15"/>
    </p:embeddedFont>
    <p:embeddedFont>
      <p:font typeface="Open Sans 1" panose="020B0604020202020204" charset="0"/>
      <p:regular r:id="rId16"/>
    </p:embeddedFont>
    <p:embeddedFont>
      <p:font typeface="Open Sans 2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Open Sans 2 Ultra-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arxiv.org/abs/1703.07402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hyperlink" Target="https://docs.ultralytics.com/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docs.scipy.org/doc/scipy/reference/signal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arxiv.org/abs/1506.02640" TargetMode="External"/><Relationship Id="rId5" Type="http://schemas.openxmlformats.org/officeDocument/2006/relationships/image" Target="../media/image4.svg"/><Relationship Id="rId15" Type="http://schemas.openxmlformats.org/officeDocument/2006/relationships/hyperlink" Target="https://doi.org/10.1021/ac60214a047" TargetMode="External"/><Relationship Id="rId10" Type="http://schemas.openxmlformats.org/officeDocument/2006/relationships/hyperlink" Target="https://doi.org/10.1016/j.autcon.2019.103045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hyperlink" Target="https://arxiv.org/abs/1602.007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8861" y="4114800"/>
            <a:ext cx="4539139" cy="6172200"/>
          </a:xfrm>
          <a:custGeom>
            <a:avLst/>
            <a:gdLst/>
            <a:ahLst/>
            <a:cxnLst/>
            <a:rect l="l" t="t" r="r" b="b"/>
            <a:pathLst>
              <a:path w="4539139" h="6172200">
                <a:moveTo>
                  <a:pt x="0" y="0"/>
                </a:moveTo>
                <a:lnTo>
                  <a:pt x="4539139" y="0"/>
                </a:lnTo>
                <a:lnTo>
                  <a:pt x="453913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4976336" cy="5143500"/>
          </a:xfrm>
          <a:custGeom>
            <a:avLst/>
            <a:gdLst/>
            <a:ahLst/>
            <a:cxnLst/>
            <a:rect l="l" t="t" r="r" b="b"/>
            <a:pathLst>
              <a:path w="4976336" h="5143500">
                <a:moveTo>
                  <a:pt x="0" y="0"/>
                </a:moveTo>
                <a:lnTo>
                  <a:pt x="4976336" y="0"/>
                </a:lnTo>
                <a:lnTo>
                  <a:pt x="497633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118310" y="277687"/>
            <a:ext cx="3169690" cy="2294063"/>
          </a:xfrm>
          <a:custGeom>
            <a:avLst/>
            <a:gdLst/>
            <a:ahLst/>
            <a:cxnLst/>
            <a:rect l="l" t="t" r="r" b="b"/>
            <a:pathLst>
              <a:path w="3169690" h="2294063">
                <a:moveTo>
                  <a:pt x="0" y="0"/>
                </a:moveTo>
                <a:lnTo>
                  <a:pt x="3169690" y="0"/>
                </a:lnTo>
                <a:lnTo>
                  <a:pt x="3169690" y="2294063"/>
                </a:lnTo>
                <a:lnTo>
                  <a:pt x="0" y="2294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021037"/>
            <a:ext cx="2988906" cy="726055"/>
          </a:xfrm>
          <a:custGeom>
            <a:avLst/>
            <a:gdLst/>
            <a:ahLst/>
            <a:cxnLst/>
            <a:rect l="l" t="t" r="r" b="b"/>
            <a:pathLst>
              <a:path w="2988906" h="726055">
                <a:moveTo>
                  <a:pt x="0" y="0"/>
                </a:moveTo>
                <a:lnTo>
                  <a:pt x="2988906" y="0"/>
                </a:lnTo>
                <a:lnTo>
                  <a:pt x="2988906" y="726055"/>
                </a:lnTo>
                <a:lnTo>
                  <a:pt x="0" y="7260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764264" y="6157292"/>
            <a:ext cx="10759473" cy="80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9"/>
              </a:lnSpc>
              <a:spcBef>
                <a:spcPct val="0"/>
              </a:spcBef>
            </a:pPr>
            <a:r>
              <a:rPr lang="en-US" sz="4412" b="1">
                <a:solidFill>
                  <a:srgbClr val="0030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Activity Recognition &amp; SOC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8168" y="2497839"/>
            <a:ext cx="13094405" cy="312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</a:pPr>
            <a:r>
              <a:rPr lang="en-US" sz="80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Optimizing On-Site EV Charging for Construction Equipment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30086" y="8050705"/>
            <a:ext cx="3427828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Shubhan Mital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A69044961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 in ECE - MLDS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362200" y="1515893"/>
            <a:ext cx="8686801" cy="782265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Research 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62200" y="2714929"/>
            <a:ext cx="1323473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Collection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Videos of construction site activities with electric vehicles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State of Charge (SOC) data for each vehicle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Tagging activities by minute for different vehicle types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5384" y="5009142"/>
            <a:ext cx="11978749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Current Challenge</a:t>
            </a:r>
          </a:p>
          <a:p>
            <a:pPr algn="l">
              <a:lnSpc>
                <a:spcPts val="3499"/>
              </a:lnSpc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Problem: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Charging EVs at a station and transporting to site is time-consuming</a:t>
            </a:r>
          </a:p>
          <a:p>
            <a:pPr algn="l">
              <a:lnSpc>
                <a:spcPts val="3499"/>
              </a:lnSpc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Solution: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Bring portable charging stations to site (limited capacity)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39145" y="6966060"/>
            <a:ext cx="11978749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Goal: Smart Charging Algorithm</a:t>
            </a:r>
          </a:p>
          <a:p>
            <a:pPr algn="l">
              <a:lnSpc>
                <a:spcPts val="3499"/>
              </a:lnSpc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Develop an algorithm that recommends optimal charging levels for each machine based on planned activities</a:t>
            </a:r>
          </a:p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Work schedule → </a:t>
            </a: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Output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Charge machine A to X%, machine B to Y%,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362200" y="1484611"/>
            <a:ext cx="7585718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Current Progress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6635" y="2705100"/>
            <a:ext cx="13234730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Completed Work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 Processing: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Successfully split videos into 1-minute frames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Timestamp Extraction: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Captured </a:t>
            </a:r>
            <a:r>
              <a:rPr lang="en-US" sz="2400" u="none" strike="noStrike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overlayed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timestamps from recordings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Challenge Overcome: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Handled multiple disjoint time segments from same day</a:t>
            </a:r>
            <a:endParaRPr lang="en-US" sz="2400" dirty="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YOLOv8-based excavator detection implemented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Deep SORT multi-object tracking integrated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Motion-based idling state identification deployed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End-to-end pipeline operational: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Raw video → Detection → Tracking → Idle segments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1413424" y="1521569"/>
            <a:ext cx="12725400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1: Object Detection Using (YOLOv8)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52693" y="3543300"/>
            <a:ext cx="12954000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 (Model Development)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Manual image labeling → dataset creation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Train/</a:t>
            </a: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V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al/Test split defined in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data.yaml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Base model: YOLOv8n (transfer learning)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onfig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 50 epochs,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mg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size=480, batch=16,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retrained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weights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Output: best.pt (best-performing model saved automatically)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Inference (Video Processing)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Real-time detection at ~59 FPS, 480×480 input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YOLO NMS applied; highest-confidence excavator detection selected per frame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Confidence threshold used: &gt;0.5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Bounding boxes + confidence + class rendered on frames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0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1524000" y="1521569"/>
            <a:ext cx="12447984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1: Object Detection Using (YOLOv8)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8348" y="3504590"/>
            <a:ext cx="129540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 Output Format [frame id, x1, y1, x2, y2, confidence, class id]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Pixel-level bounding boxes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Frame-indexed detections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Single-class excavator identification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Trained model: best.pt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Detection log: detections.csv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Annotated video: Day-2 – </a:t>
            </a:r>
            <a:r>
              <a:rPr lang="en-US" altLang="en-US" sz="23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YOLO.mp4</a:t>
            </a:r>
            <a:endParaRPr lang="en-US" altLang="en-US" sz="23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9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447800" y="1526044"/>
            <a:ext cx="14782800" cy="1594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2: Multi-Object Tracking using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Deep 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SORT </a:t>
            </a: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2438399" y="3155737"/>
            <a:ext cx="1379220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Algorithmic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Framework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Deep SORT: motion + appearance-based tracking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Combines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Kalman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 (motion prediction) + CNN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embeddings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(appearance)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Detection–track assignment using Hungarian algorithm and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threshold = 0.7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Motion Model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Kalman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State vector: [u, v, γ, h, u̇, v̇, γ̇, ḣ]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bbox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center, aspect ratio, height + velocities)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Constant-velocity assumption for prediction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Predictive update: x̂ₖ = F xₖ₋₁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Appearance Model (Deep Association Metric)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10-layer CNN generates 128-D appearance embedding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Cosine similarity for matching detections to existing tracks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Maintains appearance history for last 100 frames per track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82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447800" y="1526044"/>
            <a:ext cx="14782800" cy="1594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2: Multi-Object Tracking using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Deep 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SORT </a:t>
            </a: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2437150" y="3149828"/>
            <a:ext cx="1379220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Hyperparameters</a:t>
            </a:r>
            <a:endParaRPr lang="en-US" altLang="en-US" sz="2400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Max-age = 35: Max frames a track survives without detection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N-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init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= 4: Frames needed before track is confirmed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Max-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-distance = 0.7: 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threshold for spatial matching</a:t>
            </a:r>
          </a:p>
          <a:p>
            <a:pPr eaLnBrk="0" fontAlgn="base" hangingPunct="0"/>
            <a:endParaRPr lang="en-US" sz="2400" b="1" dirty="0" smtClean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 Format [frame-id, track-id, x1, y1, x2, y2]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Persistent track-id across frames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Full temporal trajectory for each excavator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Handles occlusions up to max-age frames</a:t>
            </a:r>
          </a:p>
          <a:p>
            <a:pPr eaLnBrk="0" fontAlgn="base" hangingPunct="0"/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Tracked video: Test-DEEPSORT.mp4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Tracking CSV: Track-Output.csv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8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80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3:  Idling State Identification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362200" y="2781300"/>
            <a:ext cx="1449675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Algorithmic Approach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Sliding window statistical feature extraction (Chen et al., 2020)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Analyze spatiotemporal invariance in bounding box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Feature 1: Centroid Displacement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Centroid,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Euclidean displacement over window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Standard deviation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Feature 2: Bounding Box Area Variance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Area,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Change of Area and Standard deviation threshold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Idling Decision Rule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Decide if process is idle or not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Signal Processing Pipeline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Smoothing: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Savitzky-Golay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 (window=11,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polyorder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=2)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Denoising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 Rolling median (window=5)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Segmentation: Sliding window (W=40 frames ≈ 0.68 sec)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Post-processing: Merge gaps &lt;1 sec, discard &lt;3 sec</a:t>
            </a:r>
          </a:p>
        </p:txBody>
      </p:sp>
    </p:spTree>
    <p:extLst>
      <p:ext uri="{BB962C8B-B14F-4D97-AF65-F5344CB8AC3E}">
        <p14:creationId xmlns:p14="http://schemas.microsoft.com/office/powerpoint/2010/main" val="398707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80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3:  Idling State Identification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362200" y="2706112"/>
            <a:ext cx="144967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 Format (CSV) [track-id, start-frame, end-frame, duration-sec, start-time-sec, end-time-sec, start-HH:MM:SS, end-HH:MM:SS]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Provides per-track idling segments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Diagnostic visualizations: movement signal, area variance, binary idle timeline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endParaRPr lang="en-US" sz="2400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CSV: Idling-segments.csv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Plots per track: movement &amp; area with idle segments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4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:  Activity Recognition Using 3D CNN (3D </a:t>
            </a:r>
            <a:r>
              <a:rPr lang="en-US" sz="6800" b="1" dirty="0" err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ResNet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 Framework)</a:t>
            </a:r>
            <a:endParaRPr lang="en-US" sz="6800" b="1" dirty="0">
              <a:solidFill>
                <a:srgbClr val="343C51"/>
              </a:solidFill>
              <a:latin typeface="Open Sans 2 Ultra-Bold"/>
              <a:ea typeface="Open Sans 2 Ultra-Bold"/>
              <a:cs typeface="Open Sans 2 Ultra-Bold"/>
              <a:sym typeface="Open Sans 2 Ultra-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62200" y="3390900"/>
            <a:ext cx="14249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1.  Dataset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Creation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Source video: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Day-1 (55 minutes)</a:t>
            </a:r>
            <a:endParaRPr lang="en-IN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Full manual review → Excel sheet with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start time, end time, activity label</a:t>
            </a:r>
            <a:endParaRPr lang="en-IN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Imported into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CVAT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for frame-level annotation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Annotation process: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Select start frame → draw bounding box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Select end frame → draw bounding box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Assign activity label (Digging, Loading, Swinging, Idling)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Apply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interpolation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to auto-label all intermediate frames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output: structured video + label segments for model </a:t>
            </a:r>
            <a:r>
              <a:rPr lang="en-IN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</a:t>
            </a:r>
            <a:endParaRPr lang="en-IN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62200" y="7176552"/>
            <a:ext cx="12039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2.  Training Framework: 3D </a:t>
            </a:r>
            <a:r>
              <a:rPr lang="en-IN" sz="24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ResNet</a:t>
            </a:r>
            <a:endParaRPr lang="en-IN" sz="2400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Architecture: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3D ResNet-18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(spatiotemporal convolution)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Input format: short video clips sampled from annotated segments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Pretrained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weights: </a:t>
            </a:r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Kinetics-400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(transfer learning)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 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Output: </a:t>
            </a:r>
            <a:r>
              <a:rPr lang="en-IN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best-activity-</a:t>
            </a:r>
            <a:r>
              <a:rPr lang="en-IN" sz="2400" b="1" dirty="0" err="1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model.pth</a:t>
            </a:r>
            <a:r>
              <a:rPr lang="en-IN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(saved based on minimum validation loss)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7090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4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:  Activity Recognition Using 3D CNN (3D </a:t>
            </a:r>
            <a:r>
              <a:rPr lang="en-US" sz="6800" b="1" dirty="0" err="1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ResNet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 Framework)</a:t>
            </a:r>
            <a:endParaRPr lang="en-US" sz="6800" b="1" dirty="0">
              <a:solidFill>
                <a:srgbClr val="343C51"/>
              </a:solidFill>
              <a:latin typeface="Open Sans 2 Ultra-Bold"/>
              <a:ea typeface="Open Sans 2 Ultra-Bold"/>
              <a:cs typeface="Open Sans 2 Ultra-Bold"/>
              <a:sym typeface="Open Sans 2 Ultra-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57400" y="3154397"/>
            <a:ext cx="13944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3.  Inference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(Testing on Day-2 and Day-3 </a:t>
            </a:r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Videos) Clip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Generation &amp; Classification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Full Day-2 &amp; Day-3 videos processed into overlapping clips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Model predicts activity label for each clip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Temporal smoothing logic merges consecutive identical predictions into final </a:t>
            </a:r>
            <a:r>
              <a:rPr lang="en-US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segments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Minimum-confidence filter </a:t>
            </a:r>
            <a:r>
              <a:rPr lang="en-US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applied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Activity </a:t>
            </a: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considered valid only when stable across N consecutive clips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2057400" y="5520370"/>
            <a:ext cx="12496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 CSV Format -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[start time, end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time, activity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label]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Activity segments automatically reconstructed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Time-aligned with source video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Directly usable for downstream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7310209"/>
            <a:ext cx="11582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Trained model: </a:t>
            </a:r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best-activity-</a:t>
            </a:r>
            <a:r>
              <a:rPr lang="en-US" sz="2400" b="1" dirty="0" err="1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model.pth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Activity predictions: </a:t>
            </a:r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ACTIVITY-OUTPUT-CSV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Activity visualization </a:t>
            </a:r>
            <a:r>
              <a:rPr lang="en-US" sz="24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video: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Day-2-Activity.mp4 / Day-3-Activity.mp4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387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202954" y="1468637"/>
            <a:ext cx="15092620" cy="159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Next Steps - Activity Recognition &amp; Productivity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2200" y="3282923"/>
            <a:ext cx="138820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Integrate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with energy/SOC data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Link frame-by-frame activity labels with battery/SOC measurements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Build statistical profiles of energy consumption for each activity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Identify activity-specific charge depletion rates</a:t>
            </a:r>
          </a:p>
          <a:p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Develop productivity &amp; charging optimization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Automatically compute cycle times and productivity metrics (LCY/</a:t>
            </a:r>
            <a:r>
              <a:rPr 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hr</a:t>
            </a: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Design charging recommendations based on planned activity schedule and station 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Optimize machine utilization while minimizing total charging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04072" y="656534"/>
            <a:ext cx="15092620" cy="84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9154" y="1828652"/>
            <a:ext cx="1372969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Chen, C., Zhu, Z.,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Hammad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 (2020).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Automated excavators activity recognition and productivity analysis from construction site surveillance videos.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Automation in Construction, 110, 103045.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0"/>
              </a:rPr>
              <a:t>https://doi.org/10.1016/j.autcon.2019.103045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Redmon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J.,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Divvala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S.,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Girshick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R.,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Farhadi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 (2016).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You Only Look Once: Unified, Real-Time Object Detection.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1"/>
              </a:rPr>
              <a:t>https://arxiv.org/abs/1506.02640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Jocher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G., et al. (2023).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Ultralytics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YOLOv8 Documentation.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Ultralytics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2"/>
              </a:rPr>
              <a:t>https://docs.ultralytics.com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Wojke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N.,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Bewley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&amp; Paulus, D. (2017).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Simple Online and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Realtime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Tracking with a Deep Association Metric.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3"/>
              </a:rPr>
              <a:t>https://arxiv.org/abs/1703.07402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Bewley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Ge, Z.,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Ott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L., Ramos, F.,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Upcroft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B. (2016).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Simple Online and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Realtime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Tracking.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4"/>
              </a:rPr>
              <a:t>https://arxiv.org/abs/1602.00763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Hara, K.,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Kataoka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H., &amp; Satoh, Y. (2018).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Can Spatiotemporal 3D CNNs Retrace the History of 2D CNNs and ImageNet?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https://arxiv.org/abs/1711.09577</a:t>
            </a: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Savitzky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Golay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M. J. E. (1964).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Smoothing and Differentiation of Data by Simplified Least Squares Procedures.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Analytical Chemistry, 36(8), 1627–1639.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5"/>
              </a:rPr>
              <a:t>https://doi.org/10.1021/ac60214a047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SciPy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Signal Processing Documentation.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SciPy.org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6"/>
              </a:rPr>
              <a:t>https://docs.scipy.org/doc/scipy/reference/signal.html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1053</Words>
  <Application>Microsoft Office PowerPoint</Application>
  <PresentationFormat>Custom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Open Sans 1 Bold</vt:lpstr>
      <vt:lpstr>Arial</vt:lpstr>
      <vt:lpstr>Open Sans 1</vt:lpstr>
      <vt:lpstr>Open Sans 2</vt:lpstr>
      <vt:lpstr>Wingdings</vt:lpstr>
      <vt:lpstr>Calibri</vt:lpstr>
      <vt:lpstr>Open Sans 2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On-Site EV Charging for Construction Equipment</dc:title>
  <dc:creator>Rishita Agarwal</dc:creator>
  <cp:lastModifiedBy>Microsoft account</cp:lastModifiedBy>
  <cp:revision>15</cp:revision>
  <dcterms:created xsi:type="dcterms:W3CDTF">2006-08-16T00:00:00Z</dcterms:created>
  <dcterms:modified xsi:type="dcterms:W3CDTF">2025-12-01T17:59:06Z</dcterms:modified>
  <dc:identifier>DAG4Xovw6d8</dc:identifier>
</cp:coreProperties>
</file>