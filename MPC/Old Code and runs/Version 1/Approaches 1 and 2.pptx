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7" r:id="rId2"/>
    <p:sldId id="30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E446D-3DE1-784C-7D00-389BD52E8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7EA65E-C549-7EF8-2CE7-830CB4C0EA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A37CA-8A22-E589-C8C5-7D6226A25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CC86-7D1F-4799-8793-FB38446F464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FAB16-3E88-C63A-B5B1-3D637DDBD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FA1AD-3EA8-7524-A0D3-03D595582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653C0-26DB-4978-BEE7-1CD83BB54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734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F15FE-D41D-5314-DA8C-AD22C64B8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E0684-F988-9F50-0036-CFCDD1153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4821F-8248-E56C-EE75-A50290257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CC86-7D1F-4799-8793-FB38446F464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2253E-DEC9-678C-DC4B-BBF98B7E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75718-7726-754E-3C11-F976444C6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653C0-26DB-4978-BEE7-1CD83BB54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63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BEA8D-0C8F-17CA-AF95-C06FE83B7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6A1CB-7B84-D38E-1E50-4C543C11A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ACE59-9E36-822B-BE67-251A84888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CC86-7D1F-4799-8793-FB38446F464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0D135-1A9E-9701-6AD6-90E9DDFE3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5A003-98E1-CA31-22DB-2226A810B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653C0-26DB-4978-BEE7-1CD83BB54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68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C0006-36B8-8940-5E59-B8C9F5347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31B88-30CD-1283-7A84-AC6614199B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F64E42-2F77-6BC8-6E99-2B6AE0BC2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47875-F064-C533-9FAD-A7AFB2274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CC86-7D1F-4799-8793-FB38446F464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3ADB0-5858-FA7E-8D78-DB76A7E6F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C5208-EF40-1E52-1586-71E5E8FC9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653C0-26DB-4978-BEE7-1CD83BB54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850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377D6-A008-1664-1BB9-0BEB7C641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589A1-76E4-4CF7-3015-47351AED2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D00980-A491-71DE-01EF-3C573CB216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FB14C-9806-8C48-6073-7BF34A29DE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525EC2-9D3D-AF1C-699D-2AB3634EEB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CBA2D7-B9D0-2A6B-9445-0961BC6C8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CC86-7D1F-4799-8793-FB38446F464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C42837-3216-203F-7CFB-2367FCD41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84B1C4-8F33-884C-7BB5-A015475D5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653C0-26DB-4978-BEE7-1CD83BB54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497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D9A4F-6D8F-A7EC-4A53-4117C25AC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C3C751-A02F-FEA2-B818-896CC7F2F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CC86-7D1F-4799-8793-FB38446F464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8CF194-59F2-E620-F281-B7E2CFF11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7C9E1E-1096-A309-79BB-1081D5638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653C0-26DB-4978-BEE7-1CD83BB54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357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EEFF8A-E7DD-CF23-FE3C-541D2193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CC86-7D1F-4799-8793-FB38446F464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EAEAE3-3D16-421A-743F-2E5C49FA4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A96E8-77DD-4F1F-6C78-298C34558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653C0-26DB-4978-BEE7-1CD83BB54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007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50A0-7541-F352-86B5-FC222C4D3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F9140-3F71-01C1-8FA4-AD55A6309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199B4-7999-B10E-6E67-A6AA33ACE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0D832-0030-BC45-8C8F-8CC5269B0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CC86-7D1F-4799-8793-FB38446F464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3F3187-5C1D-AE4F-38A9-2A62134F8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7A06D-B6D3-CF00-82D5-69FDD05A6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653C0-26DB-4978-BEE7-1CD83BB54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949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134A7-5E53-16DA-F003-706E69011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D5A7BC-465C-5BA8-C722-E6A8577F7B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9AEA90-48F9-FCF7-9E9B-9E3839BAF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2DC81-BC0D-3557-9AD3-FCE8FB7ED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CC86-7D1F-4799-8793-FB38446F464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C30BB-86A9-1A53-A2BC-F5A7F49D5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B9548-6F87-BB7D-39EF-53FB06F9E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653C0-26DB-4978-BEE7-1CD83BB54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038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ECDF4-B399-7DD4-FB35-4681A3970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86BC75-16CA-F77D-D9DC-40A0CD200B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B2CAC-CF98-B4C1-2584-8FFF58BAA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CC86-7D1F-4799-8793-FB38446F464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49918-7F3C-C551-7B45-6C7DFB94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72B7C-E3A3-AE04-5515-920A63DB6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653C0-26DB-4978-BEE7-1CD83BB54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80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04943C-AD85-9EAD-15FB-1BA89FCD20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E112BE-D490-3262-0CCF-DAEA584F5E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2AB46-18F4-E1AF-F6AA-B913FE7F8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CC86-7D1F-4799-8793-FB38446F464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FCFA0-CA18-69C0-70BC-E16089F3E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BCA1F-60C2-A39E-E0B6-9AE3949B3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653C0-26DB-4978-BEE7-1CD83BB54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1957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30B93-35AA-47C1-BC59-13DFC7F64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E1BE4795-2E63-448C-E789-737011D42C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1733551"/>
            <a:ext cx="10972800" cy="4171949"/>
          </a:xfrm>
        </p:spPr>
        <p:txBody>
          <a:bodyPr/>
          <a:lstStyle/>
          <a:p>
            <a:pPr lvl="0"/>
            <a:r>
              <a:rPr lang="en-US" dirty="0"/>
              <a:t>Click to edit bulleted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EFC921C-EE06-5F37-7579-94A37A66E0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Blue and Gold Template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5043182-23AB-DE81-0C05-063A6998443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/>
            </a:lvl1pPr>
          </a:lstStyle>
          <a:p>
            <a:fld id="{10182D5C-5622-0748-8D9A-CE71C49FA20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33327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955FF9-37B4-57B0-B13F-9C2465333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E1543-211C-0623-CB2A-93196C6CC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B1DEE-AB86-190D-E171-5614D3CE06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18CC86-7D1F-4799-8793-FB38446F464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2BCC3-BD94-3FC5-325F-91FF8F9213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3A7B1-1E56-DA22-1A76-62F87024BC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3653C0-26DB-4978-BEE7-1CD83BB54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594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04C1F-E73F-8122-93D5-3240AB65E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5F60C-BC01-5B36-F4D6-5DD7A61B7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54" y="455884"/>
            <a:ext cx="9444295" cy="413765"/>
          </a:xfrm>
        </p:spPr>
        <p:txBody>
          <a:bodyPr>
            <a:normAutofit fontScale="90000"/>
          </a:bodyPr>
          <a:lstStyle/>
          <a:p>
            <a:r>
              <a:rPr lang="en-US" sz="2933" dirty="0">
                <a:solidFill>
                  <a:srgbClr val="182B49"/>
                </a:solidFill>
                <a:ea typeface="Calibri" pitchFamily="34" charset="-122"/>
                <a:cs typeface="Calibri" pitchFamily="34" charset="-120"/>
              </a:rPr>
              <a:t>Next Steps- Uncertainty-Aware Dispatch Optimization (MPC)</a:t>
            </a:r>
            <a:endParaRPr lang="en-US" sz="2933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3278D-E7AA-C967-41D9-731FE409DAA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43841" y="6472733"/>
            <a:ext cx="365759" cy="292135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8898839" y="5328292"/>
            <a:ext cx="3181028" cy="120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on-site battery depletion and stabilizes the grid under real-world power uncertainty.</a:t>
            </a:r>
            <a:endParaRPr lang="en-US" sz="1467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C228AD-E83B-ED87-9E2C-281C43E906CC}"/>
              </a:ext>
            </a:extLst>
          </p:cNvPr>
          <p:cNvSpPr txBox="1"/>
          <p:nvPr/>
        </p:nvSpPr>
        <p:spPr>
          <a:xfrm>
            <a:off x="76568" y="869649"/>
            <a:ext cx="10129224" cy="420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13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Approach 1: Deterministic Certainty-Equivalent MPC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BF334B1-D589-0105-6885-C05B60E0F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808" y="1328209"/>
            <a:ext cx="12192000" cy="4201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F7EA86E-A672-13EA-1780-559E65943778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3928298"/>
          <a:ext cx="5861318" cy="25480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30659">
                  <a:extLst>
                    <a:ext uri="{9D8B030D-6E8A-4147-A177-3AD203B41FA5}">
                      <a16:colId xmlns:a16="http://schemas.microsoft.com/office/drawing/2014/main" val="385027362"/>
                    </a:ext>
                  </a:extLst>
                </a:gridCol>
                <a:gridCol w="2930659">
                  <a:extLst>
                    <a:ext uri="{9D8B030D-6E8A-4147-A177-3AD203B41FA5}">
                      <a16:colId xmlns:a16="http://schemas.microsoft.com/office/drawing/2014/main" val="1941857356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1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Pros</a:t>
                      </a:r>
                    </a:p>
                  </a:txBody>
                  <a:tcPr marL="121920" marR="121920" marT="60960" marB="6096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1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Cons</a:t>
                      </a:r>
                    </a:p>
                  </a:txBody>
                  <a:tcPr marL="121920" marR="121920" marT="60960" marB="60960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360029"/>
                  </a:ext>
                </a:extLst>
              </a:tr>
              <a:tr h="2101052">
                <a:tc>
                  <a:txBody>
                    <a:bodyPr/>
                    <a:lstStyle/>
                    <a:p>
                      <a:pPr marL="285750" indent="-285750" algn="l"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9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Computationally fast for real-time edge execution.</a:t>
                      </a:r>
                    </a:p>
                    <a:p>
                      <a:pPr marL="285750" marR="0" lvl="0" indent="-285750" algn="l" defTabSz="219075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9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Simple to implement and tune.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285750" indent="-285750" algn="l"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9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Vulnerable to unexpected power spikes (edge cases).</a:t>
                      </a:r>
                    </a:p>
                    <a:p>
                      <a:pPr marL="285750" marR="0" lvl="0" indent="-285750" algn="l" defTabSz="219075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9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Purely reactive (fixes errors </a:t>
                      </a:r>
                      <a:r>
                        <a:rPr lang="en-US" sz="1900" i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after</a:t>
                      </a:r>
                      <a:r>
                        <a:rPr lang="en-US" sz="19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they happen).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53249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529312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D3B1C-D7A9-71AF-B214-98820437E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94560-8849-120C-30B6-C737D221F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54" y="455884"/>
            <a:ext cx="9444295" cy="413765"/>
          </a:xfrm>
        </p:spPr>
        <p:txBody>
          <a:bodyPr>
            <a:normAutofit fontScale="90000"/>
          </a:bodyPr>
          <a:lstStyle/>
          <a:p>
            <a:r>
              <a:rPr lang="en-US" sz="2933" dirty="0">
                <a:solidFill>
                  <a:srgbClr val="182B49"/>
                </a:solidFill>
                <a:ea typeface="Calibri" pitchFamily="34" charset="-122"/>
                <a:cs typeface="Calibri" pitchFamily="34" charset="-120"/>
              </a:rPr>
              <a:t>Next Steps- Uncertainty-Aware Dispatch Optimization (MPC)</a:t>
            </a:r>
            <a:endParaRPr lang="en-US" sz="2933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92817-6737-BB36-97D3-2C0EEAE9622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43841" y="6472733"/>
            <a:ext cx="365759" cy="292135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B1222FA9-6A94-E048-7E40-836C037432C3}"/>
              </a:ext>
            </a:extLst>
          </p:cNvPr>
          <p:cNvSpPr/>
          <p:nvPr/>
        </p:nvSpPr>
        <p:spPr>
          <a:xfrm>
            <a:off x="8898839" y="5328292"/>
            <a:ext cx="3181028" cy="120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on-site battery depletion and stabilizes the grid under real-world power uncertainty.</a:t>
            </a:r>
            <a:endParaRPr lang="en-US" sz="1467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64E0E5-76C2-B073-37A5-8BC16F2E40ED}"/>
              </a:ext>
            </a:extLst>
          </p:cNvPr>
          <p:cNvSpPr txBox="1"/>
          <p:nvPr/>
        </p:nvSpPr>
        <p:spPr>
          <a:xfrm>
            <a:off x="51848" y="869649"/>
            <a:ext cx="8785921" cy="420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13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Approach 2: Scenario-Based Stochastic MPC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1F309B6-4475-6399-4232-6BA86A347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19301"/>
            <a:ext cx="12192000" cy="3585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AFA27C8-28A9-196A-0942-762FDA438EBB}"/>
              </a:ext>
            </a:extLst>
          </p:cNvPr>
          <p:cNvGraphicFramePr>
            <a:graphicFrameLocks noGrp="1"/>
          </p:cNvGraphicFramePr>
          <p:nvPr/>
        </p:nvGraphicFramePr>
        <p:xfrm>
          <a:off x="5812666" y="1189777"/>
          <a:ext cx="5861318" cy="25480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30659">
                  <a:extLst>
                    <a:ext uri="{9D8B030D-6E8A-4147-A177-3AD203B41FA5}">
                      <a16:colId xmlns:a16="http://schemas.microsoft.com/office/drawing/2014/main" val="108761196"/>
                    </a:ext>
                  </a:extLst>
                </a:gridCol>
                <a:gridCol w="2930659">
                  <a:extLst>
                    <a:ext uri="{9D8B030D-6E8A-4147-A177-3AD203B41FA5}">
                      <a16:colId xmlns:a16="http://schemas.microsoft.com/office/drawing/2014/main" val="4070828708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1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Pros</a:t>
                      </a:r>
                    </a:p>
                  </a:txBody>
                  <a:tcPr marL="121920" marR="121920" marT="60960" marB="6096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1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Cons</a:t>
                      </a:r>
                    </a:p>
                  </a:txBody>
                  <a:tcPr marL="121920" marR="121920" marT="60960" marB="60960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027382"/>
                  </a:ext>
                </a:extLst>
              </a:tr>
              <a:tr h="2101052">
                <a:tc>
                  <a:txBody>
                    <a:bodyPr/>
                    <a:lstStyle/>
                    <a:p>
                      <a:pPr marL="285750" indent="-285750" algn="l"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9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Proactively prevents battery deaths and grid violations.</a:t>
                      </a:r>
                    </a:p>
                    <a:p>
                      <a:pPr marL="285750" indent="-285750" algn="l"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9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Highly robust to unpredictable worksite behavior.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285750" indent="-285750" algn="l"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9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Computationally expensive for real-time hardware.</a:t>
                      </a:r>
                    </a:p>
                    <a:p>
                      <a:pPr marL="285750" indent="-285750" algn="l"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9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Requires complex scenario-reduction math to work.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713364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333926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Next Steps- Uncertainty-Aware Dispatch Optimization (MPC)</vt:lpstr>
      <vt:lpstr>Next Steps- Uncertainty-Aware Dispatch Optimization (MPC)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Shubhan Mital</dc:creator>
  <cp:lastModifiedBy>Shubhan Mital</cp:lastModifiedBy>
  <cp:revision>1</cp:revision>
  <dcterms:created xsi:type="dcterms:W3CDTF">2026-07-30T15:39:04Z</dcterms:created>
  <dcterms:modified xsi:type="dcterms:W3CDTF">2026-07-30T15:39:23Z</dcterms:modified>
</cp:coreProperties>
</file>